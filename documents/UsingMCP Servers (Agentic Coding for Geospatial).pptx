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Comfortaa Light"/>
      <p:regular r:id="rId10"/>
      <p:bold r:id="rId11"/>
    </p:embeddedFont>
    <p:embeddedFont>
      <p:font typeface="Comfortaa SemiBold"/>
      <p:regular r:id="rId12"/>
      <p:bold r:id="rId13"/>
    </p:embeddedFont>
    <p:embeddedFont>
      <p:font typeface="Roboto ExtraLight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  <p:embeddedFont>
      <p:font typeface="Helvetica Neue Light"/>
      <p:regular r:id="rId26"/>
      <p:bold r:id="rId27"/>
      <p:italic r:id="rId28"/>
      <p:boldItalic r:id="rId29"/>
    </p:embeddedFont>
    <p:embeddedFont>
      <p:font typeface="Comfortaa Medium"/>
      <p:regular r:id="rId30"/>
      <p:bold r:id="rId31"/>
    </p:embeddedFont>
    <p:embeddedFont>
      <p:font typeface="Comfortaa"/>
      <p:regular r:id="rId32"/>
      <p:bold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regular.fntdata"/><Relationship Id="rId25" Type="http://schemas.openxmlformats.org/officeDocument/2006/relationships/font" Target="fonts/HelveticaNeue-boldItalic.fntdata"/><Relationship Id="rId28" Type="http://schemas.openxmlformats.org/officeDocument/2006/relationships/font" Target="fonts/HelveticaNeueLight-italic.fntdata"/><Relationship Id="rId27" Type="http://schemas.openxmlformats.org/officeDocument/2006/relationships/font" Target="fonts/HelveticaNeue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omfortaaMedium-bold.fntdata"/><Relationship Id="rId30" Type="http://schemas.openxmlformats.org/officeDocument/2006/relationships/font" Target="fonts/ComfortaaMedium-regular.fntdata"/><Relationship Id="rId11" Type="http://schemas.openxmlformats.org/officeDocument/2006/relationships/font" Target="fonts/ComfortaaLight-bold.fntdata"/><Relationship Id="rId33" Type="http://schemas.openxmlformats.org/officeDocument/2006/relationships/font" Target="fonts/Comfortaa-bold.fntdata"/><Relationship Id="rId10" Type="http://schemas.openxmlformats.org/officeDocument/2006/relationships/font" Target="fonts/ComfortaaLight-regular.fntdata"/><Relationship Id="rId32" Type="http://schemas.openxmlformats.org/officeDocument/2006/relationships/font" Target="fonts/Comfortaa-regular.fntdata"/><Relationship Id="rId13" Type="http://schemas.openxmlformats.org/officeDocument/2006/relationships/font" Target="fonts/ComfortaaSemiBold-bold.fntdata"/><Relationship Id="rId35" Type="http://schemas.openxmlformats.org/officeDocument/2006/relationships/font" Target="fonts/OpenSans-bold.fntdata"/><Relationship Id="rId12" Type="http://schemas.openxmlformats.org/officeDocument/2006/relationships/font" Target="fonts/ComfortaaSemiBold-regular.fntdata"/><Relationship Id="rId34" Type="http://schemas.openxmlformats.org/officeDocument/2006/relationships/font" Target="fonts/OpenSans-regular.fntdata"/><Relationship Id="rId15" Type="http://schemas.openxmlformats.org/officeDocument/2006/relationships/font" Target="fonts/RobotoExtraLight-bold.fntdata"/><Relationship Id="rId37" Type="http://schemas.openxmlformats.org/officeDocument/2006/relationships/font" Target="fonts/OpenSans-boldItalic.fntdata"/><Relationship Id="rId14" Type="http://schemas.openxmlformats.org/officeDocument/2006/relationships/font" Target="fonts/RobotoExtraLight-regular.fntdata"/><Relationship Id="rId36" Type="http://schemas.openxmlformats.org/officeDocument/2006/relationships/font" Target="fonts/OpenSans-italic.fntdata"/><Relationship Id="rId17" Type="http://schemas.openxmlformats.org/officeDocument/2006/relationships/font" Target="fonts/RobotoExtraLight-boldItalic.fntdata"/><Relationship Id="rId16" Type="http://schemas.openxmlformats.org/officeDocument/2006/relationships/font" Target="fonts/RobotoExtraLight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2fa5ee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72fa5ee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3b2ca7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73b2ca7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73b2ca72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73b2ca72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73b2ca72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73b2ca72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96050" y="119857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A8CF45"/>
              </a:buClr>
              <a:buSzPts val="4200"/>
              <a:buFont typeface="Comfortaa"/>
              <a:buNone/>
              <a:defRPr b="1" sz="4200">
                <a:solidFill>
                  <a:srgbClr val="A8CF45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2138" y="224908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F45"/>
              </a:buClr>
              <a:buSzPts val="2100"/>
              <a:buFont typeface="Comfortaa Light"/>
              <a:buNone/>
              <a:defRPr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15" name="Google Shape;15;p2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16" name="Google Shape;16;p2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17" name="Google Shape;17;p2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0350" y="4066853"/>
            <a:ext cx="683575" cy="5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>
            <a:off x="743000" y="4909375"/>
            <a:ext cx="110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06292"/>
                </a:solid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BY-4.0</a:t>
            </a:r>
            <a:endParaRPr sz="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310486" y="4909405"/>
            <a:ext cx="432008" cy="202913"/>
            <a:chOff x="2828925" y="2834388"/>
            <a:chExt cx="2514600" cy="1181100"/>
          </a:xfrm>
        </p:grpSpPr>
        <p:pic>
          <p:nvPicPr>
            <p:cNvPr id="21" name="Google Shape;21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62425" y="2834388"/>
              <a:ext cx="1181100" cy="118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828925" y="2834388"/>
              <a:ext cx="1181100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8CF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A8CF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Comfortaa SemiBold"/>
              <a:buNone/>
              <a:defRPr sz="40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34" name="Google Shape;34;p3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35" name="Google Shape;35;p3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36" name="Google Shape;36;p3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4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42" name="Google Shape;42;p4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43" name="Google Shape;43;p4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44" name="Google Shape;44;p4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45" name="Google Shape;45;p4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53" name="Google Shape;53;p5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54" name="Google Shape;54;p5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55" name="Google Shape;55;p5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60" name="Google Shape;60;p6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61" name="Google Shape;61;p6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62" name="Google Shape;62;p6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63" name="Google Shape;63;p6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None/>
              <a:defRPr sz="2000"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-19125" y="4735286"/>
            <a:ext cx="9182236" cy="440018"/>
            <a:chOff x="-19125" y="4735286"/>
            <a:chExt cx="9182236" cy="440018"/>
          </a:xfrm>
        </p:grpSpPr>
        <p:grpSp>
          <p:nvGrpSpPr>
            <p:cNvPr id="69" name="Google Shape;69;p7"/>
            <p:cNvGrpSpPr/>
            <p:nvPr/>
          </p:nvGrpSpPr>
          <p:grpSpPr>
            <a:xfrm>
              <a:off x="-19125" y="4735286"/>
              <a:ext cx="9182236" cy="440018"/>
              <a:chOff x="-19118" y="4617750"/>
              <a:chExt cx="9182236" cy="548378"/>
            </a:xfrm>
          </p:grpSpPr>
          <p:sp>
            <p:nvSpPr>
              <p:cNvPr id="70" name="Google Shape;70;p7"/>
              <p:cNvSpPr/>
              <p:nvPr/>
            </p:nvSpPr>
            <p:spPr>
              <a:xfrm flipH="1">
                <a:off x="19244" y="4617750"/>
                <a:ext cx="9143874" cy="548378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3367D6"/>
              </a:solidFill>
              <a:ln>
                <a:noFill/>
              </a:ln>
            </p:spPr>
          </p:sp>
          <p:sp>
            <p:nvSpPr>
              <p:cNvPr id="71" name="Google Shape;71;p7"/>
              <p:cNvSpPr/>
              <p:nvPr/>
            </p:nvSpPr>
            <p:spPr>
              <a:xfrm flipH="1">
                <a:off x="-19118" y="4677825"/>
                <a:ext cx="4769786" cy="473975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</p:sp>
        </p:grpSp>
        <p:sp>
          <p:nvSpPr>
            <p:cNvPr id="72" name="Google Shape;72;p7"/>
            <p:cNvSpPr txBox="1"/>
            <p:nvPr/>
          </p:nvSpPr>
          <p:spPr>
            <a:xfrm>
              <a:off x="7370075" y="4851800"/>
              <a:ext cx="1639200" cy="1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Spatial Thoughts</a:t>
              </a:r>
              <a:endPara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5" name="Google Shape;75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E6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0E6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8"/>
          <p:cNvSpPr txBox="1"/>
          <p:nvPr>
            <p:ph type="title"/>
          </p:nvPr>
        </p:nvSpPr>
        <p:spPr>
          <a:xfrm>
            <a:off x="490250" y="526350"/>
            <a:ext cx="8310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EF"/>
              </a:buClr>
              <a:buSzPts val="4200"/>
              <a:buFont typeface="Comfortaa Medium"/>
              <a:buNone/>
              <a:defRPr sz="4200">
                <a:solidFill>
                  <a:srgbClr val="00AFEF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omfortaa SemiBold"/>
              <a:buNone/>
              <a:defRPr sz="42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mfortaa"/>
              <a:buNone/>
              <a:defRPr sz="2100"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2" name="Google Shape;92;p10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93" name="Google Shape;93;p10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94" name="Google Shape;94;p10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95" name="Google Shape;95;p10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96" name="Google Shape;96;p10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ine Title with Bullets">
  <p:cSld name="One Line Title with Bulle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>
            <p:ph type="title"/>
          </p:nvPr>
        </p:nvSpPr>
        <p:spPr>
          <a:xfrm>
            <a:off x="353625" y="149075"/>
            <a:ext cx="8400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  <a:defRPr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indent="0" lvl="5" marL="4572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indent="0" lvl="6" marL="9144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indent="0" lvl="7" marL="13716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indent="0" lvl="8" marL="18288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42650" y="843550"/>
            <a:ext cx="8553000" cy="3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Open Sans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Open Sans"/>
              <a:buChar char="–"/>
              <a:defRPr sz="1400"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Open Sans"/>
              <a:buChar char="•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Open Sans"/>
              <a:buChar char="–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Open Sans"/>
              <a:buChar char="»"/>
              <a:defRPr sz="1000">
                <a:latin typeface="Open Sans"/>
                <a:ea typeface="Open Sans"/>
                <a:cs typeface="Open Sans"/>
                <a:sym typeface="Open Sans"/>
              </a:defRPr>
            </a:lvl5pPr>
            <a:lvl6pPr indent="-292100" lvl="5" marL="2743200" marR="0" algn="l">
              <a:spcBef>
                <a:spcPts val="4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6pPr>
            <a:lvl7pPr indent="-292100" lvl="6" marL="3200400" marR="0" algn="l">
              <a:spcBef>
                <a:spcPts val="16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7pPr>
            <a:lvl8pPr indent="-292100" lvl="7" marL="3657600" marR="0" algn="l">
              <a:spcBef>
                <a:spcPts val="16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8pPr>
            <a:lvl9pPr indent="-292100" lvl="8" marL="4114800" marR="0" algn="l">
              <a:spcBef>
                <a:spcPts val="1600"/>
              </a:spcBef>
              <a:spcAft>
                <a:spcPts val="160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 Medium"/>
              <a:buNone/>
              <a:defRPr sz="3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odelcontextprotocol.io/docs/2026-07-28/getting-started/intro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googlecolab/colab-mcp" TargetMode="External"/><Relationship Id="rId4" Type="http://schemas.openxmlformats.org/officeDocument/2006/relationships/hyperlink" Target="https://github.com/nkarasiak/qgis-mcp" TargetMode="External"/><Relationship Id="rId5" Type="http://schemas.openxmlformats.org/officeDocument/2006/relationships/hyperlink" Target="https://geolibre.app/mc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392138" y="3087288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Ujaval Gandhi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Spatial Thoughts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ujaval@spatialthoughts.com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460950" y="1819534"/>
            <a:ext cx="82221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Agentic Coding for Geospatial</a:t>
            </a:r>
            <a:endParaRPr i="1"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92150" y="6151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A8CF45"/>
                </a:solidFill>
                <a:latin typeface="Comfortaa"/>
                <a:ea typeface="Comfortaa"/>
                <a:cs typeface="Comfortaa"/>
                <a:sym typeface="Comfortaa"/>
              </a:rPr>
              <a:t>Using MCP Servers</a:t>
            </a:r>
            <a:endParaRPr b="1" sz="3500">
              <a:solidFill>
                <a:srgbClr val="A8CF4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MCP?</a:t>
            </a:r>
            <a:endParaRPr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Model Context Protocol (MCP)</a:t>
            </a:r>
            <a:r>
              <a:rPr lang="en"/>
              <a:t> is an open standard for connecting external tools to AI Agents.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tools come from MCP servers, which run on your machine or as hosted services.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Servers allow your Agent to carry out tasks on different applications.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Loading data in QGIS, Editing a notebook on Google Colab, rendering a 3D diagram in Blender,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servers are like APIs, but built for AI Agents.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write a PyQGIS script and load a layer in QGIS, but an MCP server provides </a:t>
            </a:r>
            <a:r>
              <a:rPr lang="en"/>
              <a:t>translation</a:t>
            </a:r>
            <a:r>
              <a:rPr lang="en"/>
              <a:t> layer where you can tell your agent “Load this layer in QGIS” and it will be able to call the correct tool from the MCP server and execute the task.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MCP Servers?</a:t>
            </a:r>
            <a:endParaRPr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Servers can be hosted at a URL or run as a local process.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latin typeface="Roboto ExtraLight"/>
                <a:ea typeface="Roboto ExtraLight"/>
                <a:cs typeface="Roboto ExtraLight"/>
                <a:sym typeface="Roboto ExtraLight"/>
              </a:rPr>
              <a:t>stdio</a:t>
            </a:r>
            <a:r>
              <a:rPr lang="en"/>
              <a:t> - run a command to start a local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latin typeface="Roboto ExtraLight"/>
                <a:ea typeface="Roboto ExtraLight"/>
                <a:cs typeface="Roboto ExtraLight"/>
                <a:sym typeface="Roboto ExtraLight"/>
              </a:rPr>
              <a:t>http</a:t>
            </a:r>
            <a:r>
              <a:rPr lang="en"/>
              <a:t> - connect to a remote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add an MCP Server to Claude Code?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 server via cla</a:t>
            </a:r>
            <a:r>
              <a:rPr lang="en"/>
              <a:t>ude command 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Edit </a:t>
            </a:r>
            <a:r>
              <a:rPr lang="en" sz="1400">
                <a:latin typeface="Roboto ExtraLight"/>
                <a:ea typeface="Roboto ExtraLight"/>
                <a:cs typeface="Roboto ExtraLight"/>
                <a:sym typeface="Roboto ExtraLight"/>
              </a:rPr>
              <a:t>.mcp.json</a:t>
            </a:r>
            <a:r>
              <a:rPr lang="en"/>
              <a:t> file in your project directory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Easiest: Ask Claude Code to setup the MCP server from the documentation.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NOT to use MCP Servers?</a:t>
            </a:r>
            <a:endParaRPr/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servers are most useful when you want to interact with an ‘Application’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MCP servers are just wrappers around a command-line interface or an API.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often easiest to just use the API or the command-line interface.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servers can often be unmaintained or lag official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Agents can use the API directly from the documentation without needing an MCP server.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Instead of using an MCP server to query OpenStreetMap data, just use the Overpass API directly.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or use a SKILL for specific workflows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MCP Servers</a:t>
            </a:r>
            <a:endParaRPr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Google Colab 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Runs a local MCP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Build, edit and run Google Colab notebooks using Claude Code.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QGIS 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Runs a local MCP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Install a QGIS Plugin which connects to the MCP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Claude Code can interact with QGIS - load layers, call processing algorithms, render maps.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GeoLibre 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Runs a local MCP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GeoLibre projects using Claude Code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