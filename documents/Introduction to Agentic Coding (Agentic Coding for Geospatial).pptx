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Comfortaa Light"/>
      <p:regular r:id="rId22"/>
      <p:bold r:id="rId23"/>
    </p:embeddedFont>
    <p:embeddedFont>
      <p:font typeface="Comfortaa SemiBold"/>
      <p:regular r:id="rId24"/>
      <p:bold r:id="rId25"/>
    </p:embeddedFont>
    <p:embeddedFont>
      <p:font typeface="Roboto ExtraLight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Helvetica Neue Light"/>
      <p:regular r:id="rId38"/>
      <p:bold r:id="rId39"/>
      <p:italic r:id="rId40"/>
      <p:boldItalic r:id="rId41"/>
    </p:embeddedFont>
    <p:embeddedFont>
      <p:font typeface="Comfortaa Medium"/>
      <p:regular r:id="rId42"/>
      <p:bold r:id="rId43"/>
    </p:embeddedFont>
    <p:embeddedFont>
      <p:font typeface="Comfortaa"/>
      <p:regular r:id="rId44"/>
      <p:bold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Light-italic.fntdata"/><Relationship Id="rId42" Type="http://schemas.openxmlformats.org/officeDocument/2006/relationships/font" Target="fonts/ComfortaaMedium-regular.fntdata"/><Relationship Id="rId41" Type="http://schemas.openxmlformats.org/officeDocument/2006/relationships/font" Target="fonts/HelveticaNeueLight-boldItalic.fntdata"/><Relationship Id="rId44" Type="http://schemas.openxmlformats.org/officeDocument/2006/relationships/font" Target="fonts/Comfortaa-regular.fntdata"/><Relationship Id="rId43" Type="http://schemas.openxmlformats.org/officeDocument/2006/relationships/font" Target="fonts/ComfortaaMedium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Comforta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33" Type="http://schemas.openxmlformats.org/officeDocument/2006/relationships/font" Target="fonts/Roboto-boldItalic.fntdata"/><Relationship Id="rId32" Type="http://schemas.openxmlformats.org/officeDocument/2006/relationships/font" Target="fonts/Roboto-italic.fntdata"/><Relationship Id="rId35" Type="http://schemas.openxmlformats.org/officeDocument/2006/relationships/font" Target="fonts/HelveticaNeue-bold.fntdata"/><Relationship Id="rId34" Type="http://schemas.openxmlformats.org/officeDocument/2006/relationships/font" Target="fonts/HelveticaNeue-regular.fntdata"/><Relationship Id="rId37" Type="http://schemas.openxmlformats.org/officeDocument/2006/relationships/font" Target="fonts/HelveticaNeue-boldItalic.fntdata"/><Relationship Id="rId36" Type="http://schemas.openxmlformats.org/officeDocument/2006/relationships/font" Target="fonts/HelveticaNeue-italic.fntdata"/><Relationship Id="rId39" Type="http://schemas.openxmlformats.org/officeDocument/2006/relationships/font" Target="fonts/HelveticaNeueLight-bold.fntdata"/><Relationship Id="rId38" Type="http://schemas.openxmlformats.org/officeDocument/2006/relationships/font" Target="fonts/HelveticaNeueLight-regular.fntdata"/><Relationship Id="rId20" Type="http://schemas.openxmlformats.org/officeDocument/2006/relationships/slide" Target="slides/slide16.xml"/><Relationship Id="rId22" Type="http://schemas.openxmlformats.org/officeDocument/2006/relationships/font" Target="fonts/ComfortaaLight-regular.fntdata"/><Relationship Id="rId21" Type="http://schemas.openxmlformats.org/officeDocument/2006/relationships/slide" Target="slides/slide17.xml"/><Relationship Id="rId24" Type="http://schemas.openxmlformats.org/officeDocument/2006/relationships/font" Target="fonts/ComfortaaSemiBold-regular.fntdata"/><Relationship Id="rId23" Type="http://schemas.openxmlformats.org/officeDocument/2006/relationships/font" Target="fonts/ComfortaaLight-bold.fntdata"/><Relationship Id="rId26" Type="http://schemas.openxmlformats.org/officeDocument/2006/relationships/font" Target="fonts/RobotoExtraLight-regular.fntdata"/><Relationship Id="rId25" Type="http://schemas.openxmlformats.org/officeDocument/2006/relationships/font" Target="fonts/ComfortaaSemiBold-bold.fntdata"/><Relationship Id="rId28" Type="http://schemas.openxmlformats.org/officeDocument/2006/relationships/font" Target="fonts/RobotoExtraLight-italic.fntdata"/><Relationship Id="rId27" Type="http://schemas.openxmlformats.org/officeDocument/2006/relationships/font" Target="fonts/RobotoExtraLight-bold.fntdata"/><Relationship Id="rId29" Type="http://schemas.openxmlformats.org/officeDocument/2006/relationships/font" Target="fonts/RobotoExtra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9a289a4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9a289a4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9a289a4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9a289a4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7253ef5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7253ef5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f9a289a4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f9a289a4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7253ef5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7253ef5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7253ef57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f7253ef57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7253ef57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7253ef57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739fb76d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739fb76d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739fb76d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739fb76d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9a289a47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9a289a47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a289a47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9a289a47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9a289a47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9a289a47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9a289a47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9a289a47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739fb76d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f739fb76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739fb76d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739fb76d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39fb76d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739fb76d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96050" y="119857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4200"/>
              <a:buFont typeface="Comfortaa"/>
              <a:buNone/>
              <a:defRPr b="1" sz="42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2138" y="22490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2100"/>
              <a:buFont typeface="Comfortaa Light"/>
              <a:buNone/>
              <a:defRPr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15" name="Google Shape;15;p2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16" name="Google Shape;16;p2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17" name="Google Shape;17;p2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0350" y="4066853"/>
            <a:ext cx="683575" cy="5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>
            <a:off x="743000" y="4909375"/>
            <a:ext cx="110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06292"/>
                </a:solid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BY-4.0</a:t>
            </a:r>
            <a:endParaRPr sz="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310486" y="4909405"/>
            <a:ext cx="432008" cy="202913"/>
            <a:chOff x="2828925" y="2834388"/>
            <a:chExt cx="2514600" cy="1181100"/>
          </a:xfrm>
        </p:grpSpPr>
        <p:pic>
          <p:nvPicPr>
            <p:cNvPr id="21" name="Google Shape;21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624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289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Comfortaa SemiBold"/>
              <a:buNone/>
              <a:defRPr sz="40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34" name="Google Shape;34;p3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35" name="Google Shape;35;p3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36" name="Google Shape;36;p3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42" name="Google Shape;42;p4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43" name="Google Shape;43;p4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44" name="Google Shape;44;p4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45" name="Google Shape;45;p4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53" name="Google Shape;53;p5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54" name="Google Shape;54;p5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55" name="Google Shape;55;p5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60" name="Google Shape;60;p6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61" name="Google Shape;61;p6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62" name="Google Shape;62;p6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63" name="Google Shape;63;p6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None/>
              <a:defRPr sz="2000"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-19125" y="4735286"/>
            <a:ext cx="9182236" cy="440018"/>
            <a:chOff x="-19125" y="4735286"/>
            <a:chExt cx="9182236" cy="440018"/>
          </a:xfrm>
        </p:grpSpPr>
        <p:grpSp>
          <p:nvGrpSpPr>
            <p:cNvPr id="69" name="Google Shape;69;p7"/>
            <p:cNvGrpSpPr/>
            <p:nvPr/>
          </p:nvGrpSpPr>
          <p:grpSpPr>
            <a:xfrm>
              <a:off x="-19125" y="4735286"/>
              <a:ext cx="9182236" cy="440018"/>
              <a:chOff x="-19118" y="4617750"/>
              <a:chExt cx="9182236" cy="548378"/>
            </a:xfrm>
          </p:grpSpPr>
          <p:sp>
            <p:nvSpPr>
              <p:cNvPr id="70" name="Google Shape;70;p7"/>
              <p:cNvSpPr/>
              <p:nvPr/>
            </p:nvSpPr>
            <p:spPr>
              <a:xfrm flipH="1">
                <a:off x="19244" y="4617750"/>
                <a:ext cx="9143874" cy="548378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3367D6"/>
              </a:solidFill>
              <a:ln>
                <a:noFill/>
              </a:ln>
            </p:spPr>
          </p:sp>
          <p:sp>
            <p:nvSpPr>
              <p:cNvPr id="71" name="Google Shape;71;p7"/>
              <p:cNvSpPr/>
              <p:nvPr/>
            </p:nvSpPr>
            <p:spPr>
              <a:xfrm flipH="1">
                <a:off x="-19118" y="4677825"/>
                <a:ext cx="4769786" cy="473975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</p:grpSp>
        <p:sp>
          <p:nvSpPr>
            <p:cNvPr id="72" name="Google Shape;72;p7"/>
            <p:cNvSpPr txBox="1"/>
            <p:nvPr/>
          </p:nvSpPr>
          <p:spPr>
            <a:xfrm>
              <a:off x="7370075" y="4851800"/>
              <a:ext cx="1639200" cy="1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Spatial Thoughts</a:t>
              </a:r>
              <a:endPara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5" name="Google Shape;75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8"/>
          <p:cNvSpPr txBox="1"/>
          <p:nvPr>
            <p:ph type="title"/>
          </p:nvPr>
        </p:nvSpPr>
        <p:spPr>
          <a:xfrm>
            <a:off x="490250" y="526350"/>
            <a:ext cx="8310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EF"/>
              </a:buClr>
              <a:buSzPts val="4200"/>
              <a:buFont typeface="Comfortaa Medium"/>
              <a:buNone/>
              <a:defRPr sz="4200">
                <a:solidFill>
                  <a:srgbClr val="00AFEF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omfortaa SemiBold"/>
              <a:buNone/>
              <a:defRPr sz="42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mfortaa"/>
              <a:buNone/>
              <a:defRPr sz="2100"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2" name="Google Shape;92;p10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93" name="Google Shape;93;p10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94" name="Google Shape;94;p10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95" name="Google Shape;95;p10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96" name="Google Shape;96;p10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ine Title with Bullets">
  <p:cSld name="One Line Title with Bulle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type="title"/>
          </p:nvPr>
        </p:nvSpPr>
        <p:spPr>
          <a:xfrm>
            <a:off x="353625" y="149075"/>
            <a:ext cx="8400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indent="0" lvl="5" marL="4572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indent="0" lvl="6" marL="9144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indent="0" lvl="7" marL="13716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indent="0" lvl="8" marL="18288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42650" y="843550"/>
            <a:ext cx="8553000" cy="3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Open Sans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Open Sans"/>
              <a:buChar char="–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•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–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Open Sans"/>
              <a:buChar char="»"/>
              <a:defRPr sz="1000">
                <a:latin typeface="Open Sans"/>
                <a:ea typeface="Open Sans"/>
                <a:cs typeface="Open Sans"/>
                <a:sym typeface="Open Sans"/>
              </a:defRPr>
            </a:lvl5pPr>
            <a:lvl6pPr indent="-292100" lvl="5" marL="2743200" marR="0" algn="l">
              <a:spcBef>
                <a:spcPts val="4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6pPr>
            <a:lvl7pPr indent="-292100" lvl="6" marL="32004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7pPr>
            <a:lvl8pPr indent="-292100" lvl="7" marL="36576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8pPr>
            <a:lvl9pPr indent="-292100" lvl="8" marL="4114800" marR="0" algn="l">
              <a:spcBef>
                <a:spcPts val="1600"/>
              </a:spcBef>
              <a:spcAft>
                <a:spcPts val="160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 Medium"/>
              <a:buNone/>
              <a:defRPr sz="3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xiv.org/abs/2210.03629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hatgpt.com/codex/" TargetMode="External"/><Relationship Id="rId4" Type="http://schemas.openxmlformats.org/officeDocument/2006/relationships/hyperlink" Target="https://geminicli.com/" TargetMode="External"/><Relationship Id="rId5" Type="http://schemas.openxmlformats.org/officeDocument/2006/relationships/hyperlink" Target="https://github.com/features/copilot/cli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pencode.ai/" TargetMode="External"/><Relationship Id="rId4" Type="http://schemas.openxmlformats.org/officeDocument/2006/relationships/hyperlink" Target="https://pi.dev/" TargetMode="External"/><Relationship Id="rId5" Type="http://schemas.openxmlformats.org/officeDocument/2006/relationships/hyperlink" Target="https://deepseek.com/harness/en/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markdownguide.org/basic-syntax/" TargetMode="External"/><Relationship Id="rId4" Type="http://schemas.openxmlformats.org/officeDocument/2006/relationships/hyperlink" Target="https://www.markdownguide.org/extended-syntax/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de.claude.com/docs/en/memory#claude-md-files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392138" y="3087288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 Gandhi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Spatial Thoughts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ujaval@spatialthoughts.com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60950" y="1819534"/>
            <a:ext cx="82221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Agentic Coding for Geospatial</a:t>
            </a:r>
            <a:endParaRPr i="1"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92150" y="6151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rPr>
              <a:t>Introduction to Agentic Coding</a:t>
            </a:r>
            <a:endParaRPr b="1" sz="3500">
              <a:solidFill>
                <a:srgbClr val="A8CF4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Introduction to Agentic Coding</a:t>
            </a:r>
            <a:endParaRPr sz="3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Agents</a:t>
            </a:r>
            <a:endParaRPr/>
          </a:p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Agents are software systems that are able to complete tasks on behalf of the users.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user prompting the model at each step for a response, </a:t>
            </a:r>
            <a:r>
              <a:rPr lang="en"/>
              <a:t>Agents can plan, execute multi-step workflows.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core principle is the </a:t>
            </a:r>
            <a:r>
              <a:rPr b="1" lang="en"/>
              <a:t>ReAct</a:t>
            </a:r>
            <a:r>
              <a:rPr lang="en"/>
              <a:t> loop (reasoning and acting) [</a:t>
            </a:r>
            <a:r>
              <a:rPr lang="en" u="sng">
                <a:solidFill>
                  <a:schemeClr val="hlink"/>
                </a:solidFill>
                <a:hlinkClick r:id="rId3"/>
              </a:rPr>
              <a:t>reference</a:t>
            </a:r>
            <a:r>
              <a:rPr lang="en"/>
              <a:t>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Reason → Act → Observe → Repeat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Coding</a:t>
            </a:r>
            <a:endParaRPr/>
          </a:p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Agentic coding involves setting high-level goals than line-by-line prompts or copy/pasting code from AI Assistants.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agent plans a coding task, executes changes across multiple files, runs the code, fixes errors, checks the outputs and iterates based on results.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code throws an error, the agent reads the output, reasons through the failure, and applies a fix on its 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paradigm shifts the </a:t>
            </a:r>
            <a:r>
              <a:rPr lang="en"/>
              <a:t>developer's</a:t>
            </a:r>
            <a:r>
              <a:rPr lang="en"/>
              <a:t> role from writing every line to reviewing, directing, and </a:t>
            </a:r>
            <a:r>
              <a:rPr lang="en"/>
              <a:t>validating</a:t>
            </a:r>
            <a:r>
              <a:rPr lang="en"/>
              <a:t> the agent's work.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build an Agent?</a:t>
            </a:r>
            <a:endParaRPr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themselves can only generate a </a:t>
            </a:r>
            <a:r>
              <a:rPr lang="en"/>
              <a:t>response</a:t>
            </a:r>
            <a:r>
              <a:rPr lang="en"/>
              <a:t> from a prompt.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</a:t>
            </a:r>
            <a:r>
              <a:rPr lang="en"/>
              <a:t>ou need a system that can use LLMs to perform agentic codings tasks. This system is the “Agent Harness”.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Harness turns LLMs into Agents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Agent = Model + Harness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of an Agent Harness</a:t>
            </a:r>
            <a:endParaRPr/>
          </a:p>
        </p:txBody>
      </p:sp>
      <p:sp>
        <p:nvSpPr>
          <p:cNvPr id="137" name="Google Shape;137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Access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access to tools to manage code (i.e. Git), run shell commands, call APIs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context on the previous executions and user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access to files, runtime environment and operating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Guardrails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the </a:t>
            </a:r>
            <a:r>
              <a:rPr lang="en"/>
              <a:t>ability</a:t>
            </a:r>
            <a:r>
              <a:rPr lang="en"/>
              <a:t> to manage permissions, and enforce policies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Code is the agentic harness around Claude models by Anthropic.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most popular coding agent in the market.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a closed-source system that is tightly integrated with Claude models and Anthropic APIs.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competitors to Claude Code include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 Codex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Gemini CLI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GitHub Coilot CLI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ecosystem is more-or-less standardized on the feature set.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 and Model performance are the key factors in determine your choice of agent harness.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Coding Agents</a:t>
            </a:r>
            <a:endParaRPr/>
          </a:p>
        </p:txBody>
      </p:sp>
      <p:sp>
        <p:nvSpPr>
          <p:cNvPr id="149" name="Google Shape;149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open-source alternatives exists that provide similar functionality.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OpenCode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DeepSeek Harness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choice and flexibility are the main factors driving adoption of open-source </a:t>
            </a:r>
            <a:r>
              <a:rPr lang="en"/>
              <a:t>harnesses</a:t>
            </a:r>
            <a:r>
              <a:rPr lang="en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pick from a wide range of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use local models running on your own machine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get a lot more visibility and transparency on the execution flow.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the Environment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CLAUDE.md</a:t>
            </a:r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Roboto ExtraLight"/>
                <a:ea typeface="Roboto ExtraLight"/>
                <a:cs typeface="Roboto ExtraLight"/>
                <a:sym typeface="Roboto ExtraLight"/>
              </a:rPr>
              <a:t>CLAUDE.md</a:t>
            </a:r>
            <a:r>
              <a:rPr lang="en"/>
              <a:t> is a special file containing instructions for your agent.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file is loaded into context at the beginning of every session.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instructions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Project instructions</a:t>
            </a:r>
            <a:r>
              <a:rPr lang="en"/>
              <a:t>: Project specific guidelines. Saved inside the project folder and only used when Claude Code is invoked from that folder.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User instructions</a:t>
            </a:r>
            <a:r>
              <a:rPr lang="en"/>
              <a:t>: Your system-wide preferences. Used in all Claude Code sessions.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 needs to be in the Markdown format.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specific layout. Keep it short and human readable.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Roboto ExtraLight"/>
                <a:ea typeface="Roboto ExtraLight"/>
                <a:cs typeface="Roboto ExtraLight"/>
                <a:sym typeface="Roboto ExtraLight"/>
              </a:rPr>
              <a:t>CLAUDE.md </a:t>
            </a:r>
            <a:r>
              <a:rPr lang="en"/>
              <a:t>is not compatible with other agents.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>
                <a:latin typeface="Roboto ExtraLight"/>
                <a:ea typeface="Roboto ExtraLight"/>
                <a:cs typeface="Roboto ExtraLight"/>
                <a:sym typeface="Roboto ExtraLight"/>
              </a:rPr>
              <a:t>AGENTS.md</a:t>
            </a:r>
            <a:r>
              <a:rPr lang="en"/>
              <a:t> is the open-standard used by Codex and many agentic systems.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Markdown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11700" y="1229975"/>
            <a:ext cx="4388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Markdown is a simple formatting language to create structured documents.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Plain text formatting that is easy to read and write for humans and computers.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a widely used standard for creating documents and websites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Markdown documents can be easily converted to other formats (PDF, Word, HTML) without worrying about styling and format-specific formatting.</a:t>
            </a:r>
            <a:endParaRPr/>
          </a:p>
        </p:txBody>
      </p:sp>
      <p:sp>
        <p:nvSpPr>
          <p:cNvPr id="172" name="Google Shape;172;p24"/>
          <p:cNvSpPr txBox="1"/>
          <p:nvPr/>
        </p:nvSpPr>
        <p:spPr>
          <a:xfrm>
            <a:off x="6005025" y="29000"/>
            <a:ext cx="1428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Markdown Text</a:t>
            </a:r>
            <a:endParaRPr sz="1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24"/>
          <p:cNvSpPr txBox="1"/>
          <p:nvPr/>
        </p:nvSpPr>
        <p:spPr>
          <a:xfrm>
            <a:off x="6005025" y="2332675"/>
            <a:ext cx="1428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Rendered HTML</a:t>
            </a:r>
            <a:endParaRPr sz="1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511" y="2635675"/>
            <a:ext cx="2969625" cy="1976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5" name="Google Shape;17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4701" y="307325"/>
            <a:ext cx="3670875" cy="1818125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Markdown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311700" y="1229975"/>
            <a:ext cx="7907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original Markdown specifications supports </a:t>
            </a:r>
            <a:r>
              <a:rPr lang="en" u="sng">
                <a:solidFill>
                  <a:schemeClr val="hlink"/>
                </a:solidFill>
                <a:hlinkClick r:id="rId3"/>
              </a:rPr>
              <a:t>basic syntax</a:t>
            </a:r>
            <a:r>
              <a:rPr lang="en"/>
              <a:t> - which is limiting for many applications.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is a superset of Markdown that support an </a:t>
            </a:r>
            <a:r>
              <a:rPr lang="en" u="sng">
                <a:solidFill>
                  <a:schemeClr val="hlink"/>
                </a:solidFill>
                <a:hlinkClick r:id="rId4"/>
              </a:rPr>
              <a:t>extended syntax</a:t>
            </a:r>
            <a:r>
              <a:rPr lang="en"/>
              <a:t>.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Tables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Code Blocks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Footnotes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GitHub supports the GitHub-flavored Markdown syntax which supports the full extended syntax, plus some GitHub-specific additions.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Tip, Notes, Alerts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Diagrams, Mathematical expressions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Referencing GitHub issues, users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is the language of AI</a:t>
            </a:r>
            <a:endParaRPr/>
          </a:p>
        </p:txBody>
      </p:sp>
      <p:sp>
        <p:nvSpPr>
          <p:cNvPr id="187" name="Google Shape;187;p26"/>
          <p:cNvSpPr txBox="1"/>
          <p:nvPr>
            <p:ph idx="1" type="body"/>
          </p:nvPr>
        </p:nvSpPr>
        <p:spPr>
          <a:xfrm>
            <a:off x="311700" y="1229975"/>
            <a:ext cx="4369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 systems use Markdown as a native format to structure content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Markdown is easier for LLMs to parse and makes them more effective than HTML/PDFs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Markdown in prompts helps AI recognize structure and prioritize instructions.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Headings, bullet points, tables convey useful structure information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Claude Code uses Markdown as the language for configuration and production of human-readable artifacts.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26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250" y="1274975"/>
            <a:ext cx="3652225" cy="31723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Coding Best Practices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Stay in the loop</a:t>
            </a:r>
            <a:endParaRPr/>
          </a:p>
        </p:txBody>
      </p:sp>
      <p:sp>
        <p:nvSpPr>
          <p:cNvPr id="199" name="Google Shape;199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→ Plan →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 Agent ]</a:t>
            </a:r>
            <a:r>
              <a:rPr lang="en"/>
              <a:t> Explore the </a:t>
            </a:r>
            <a:r>
              <a:rPr lang="en"/>
              <a:t>data and flag issues.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 Agent ] Use “Plan mode” to create a plan.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 Human ] Review, edit and update the plan.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 Agent ] Write and execute the code.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[ Human ] Validate the results.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 Context</a:t>
            </a:r>
            <a:endParaRPr/>
          </a:p>
        </p:txBody>
      </p:sp>
      <p:sp>
        <p:nvSpPr>
          <p:cNvPr id="205" name="Google Shape;205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ensure the code matches your expectation and uses correct methods - you can provide references.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authoritative documents - research papers, reports, manuals.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Use this paper as a reference [link to paper]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Point </a:t>
            </a:r>
            <a:r>
              <a:rPr lang="en"/>
              <a:t>to example patterns.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Write code using the pattern in this tutorial [link to tutorial]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