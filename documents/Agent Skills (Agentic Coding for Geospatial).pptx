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embeddedFontLst>
    <p:embeddedFont>
      <p:font typeface="Comfortaa Light"/>
      <p:regular r:id="rId10"/>
      <p:bold r:id="rId11"/>
    </p:embeddedFont>
    <p:embeddedFont>
      <p:font typeface="Comfortaa SemiBold"/>
      <p:regular r:id="rId12"/>
      <p:bold r:id="rId13"/>
    </p:embeddedFont>
    <p:embeddedFont>
      <p:font typeface="Source Code Pro Light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Helvetica Neue"/>
      <p:regular r:id="rId22"/>
      <p:bold r:id="rId23"/>
      <p:italic r:id="rId24"/>
      <p:boldItalic r:id="rId25"/>
    </p:embeddedFont>
    <p:embeddedFont>
      <p:font typeface="Helvetica Neue Light"/>
      <p:regular r:id="rId26"/>
      <p:bold r:id="rId27"/>
      <p:italic r:id="rId28"/>
      <p:boldItalic r:id="rId29"/>
    </p:embeddedFont>
    <p:embeddedFont>
      <p:font typeface="Comfortaa Medium"/>
      <p:regular r:id="rId30"/>
      <p:bold r:id="rId31"/>
    </p:embeddedFont>
    <p:embeddedFont>
      <p:font typeface="Comfortaa"/>
      <p:regular r:id="rId32"/>
      <p:bold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HelveticaNeue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elveticaNeueLight-regular.fntdata"/><Relationship Id="rId25" Type="http://schemas.openxmlformats.org/officeDocument/2006/relationships/font" Target="fonts/HelveticaNeue-boldItalic.fntdata"/><Relationship Id="rId28" Type="http://schemas.openxmlformats.org/officeDocument/2006/relationships/font" Target="fonts/HelveticaNeueLight-italic.fntdata"/><Relationship Id="rId27" Type="http://schemas.openxmlformats.org/officeDocument/2006/relationships/font" Target="fonts/HelveticaNeueLigh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HelveticaNeueLigh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ComfortaaMedium-bold.fntdata"/><Relationship Id="rId30" Type="http://schemas.openxmlformats.org/officeDocument/2006/relationships/font" Target="fonts/ComfortaaMedium-regular.fntdata"/><Relationship Id="rId11" Type="http://schemas.openxmlformats.org/officeDocument/2006/relationships/font" Target="fonts/ComfortaaLight-bold.fntdata"/><Relationship Id="rId33" Type="http://schemas.openxmlformats.org/officeDocument/2006/relationships/font" Target="fonts/Comfortaa-bold.fntdata"/><Relationship Id="rId10" Type="http://schemas.openxmlformats.org/officeDocument/2006/relationships/font" Target="fonts/ComfortaaLight-regular.fntdata"/><Relationship Id="rId32" Type="http://schemas.openxmlformats.org/officeDocument/2006/relationships/font" Target="fonts/Comfortaa-regular.fntdata"/><Relationship Id="rId13" Type="http://schemas.openxmlformats.org/officeDocument/2006/relationships/font" Target="fonts/ComfortaaSemiBold-bold.fntdata"/><Relationship Id="rId35" Type="http://schemas.openxmlformats.org/officeDocument/2006/relationships/font" Target="fonts/OpenSans-bold.fntdata"/><Relationship Id="rId12" Type="http://schemas.openxmlformats.org/officeDocument/2006/relationships/font" Target="fonts/ComfortaaSemiBold-regular.fntdata"/><Relationship Id="rId34" Type="http://schemas.openxmlformats.org/officeDocument/2006/relationships/font" Target="fonts/OpenSans-regular.fntdata"/><Relationship Id="rId15" Type="http://schemas.openxmlformats.org/officeDocument/2006/relationships/font" Target="fonts/SourceCodeProLight-bold.fntdata"/><Relationship Id="rId37" Type="http://schemas.openxmlformats.org/officeDocument/2006/relationships/font" Target="fonts/OpenSans-boldItalic.fntdata"/><Relationship Id="rId14" Type="http://schemas.openxmlformats.org/officeDocument/2006/relationships/font" Target="fonts/SourceCodeProLight-regular.fntdata"/><Relationship Id="rId36" Type="http://schemas.openxmlformats.org/officeDocument/2006/relationships/font" Target="fonts/OpenSans-italic.fntdata"/><Relationship Id="rId17" Type="http://schemas.openxmlformats.org/officeDocument/2006/relationships/font" Target="fonts/SourceCodeProLight-boldItalic.fntdata"/><Relationship Id="rId16" Type="http://schemas.openxmlformats.org/officeDocument/2006/relationships/font" Target="fonts/SourceCodeProLight-italic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72fa5ee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72fa5ee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72fa5ee3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72fa5ee3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72fa5ee3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72fa5ee3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72fa5ee3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72fa5ee3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96050" y="119857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A8CF45"/>
              </a:buClr>
              <a:buSzPts val="4200"/>
              <a:buFont typeface="Comfortaa"/>
              <a:buNone/>
              <a:defRPr b="1" sz="4200">
                <a:solidFill>
                  <a:srgbClr val="A8CF45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92138" y="2249088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F45"/>
              </a:buClr>
              <a:buSzPts val="2100"/>
              <a:buFont typeface="Comfortaa Light"/>
              <a:buNone/>
              <a:defRPr sz="2100">
                <a:solidFill>
                  <a:srgbClr val="A8CF45"/>
                </a:solidFill>
                <a:latin typeface="Comfortaa Light"/>
                <a:ea typeface="Comfortaa Light"/>
                <a:cs typeface="Comfortaa Light"/>
                <a:sym typeface="Comforta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14" name="Google Shape;14;p2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15" name="Google Shape;15;p2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16" name="Google Shape;16;p2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17" name="Google Shape;17;p2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" name="Google Shape;1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0350" y="4066853"/>
            <a:ext cx="683575" cy="58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/>
          <p:nvPr/>
        </p:nvSpPr>
        <p:spPr>
          <a:xfrm>
            <a:off x="743000" y="4909375"/>
            <a:ext cx="1103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F06292"/>
                </a:solidFill>
                <a:latin typeface="Comfortaa"/>
                <a:ea typeface="Comfortaa"/>
                <a:cs typeface="Comfortaa"/>
                <a:sym typeface="Comforta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BY-4.0</a:t>
            </a:r>
            <a:endParaRPr sz="8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20" name="Google Shape;20;p2"/>
          <p:cNvGrpSpPr/>
          <p:nvPr/>
        </p:nvGrpSpPr>
        <p:grpSpPr>
          <a:xfrm>
            <a:off x="310486" y="4909405"/>
            <a:ext cx="432008" cy="202913"/>
            <a:chOff x="2828925" y="2834388"/>
            <a:chExt cx="2514600" cy="1181100"/>
          </a:xfrm>
        </p:grpSpPr>
        <p:pic>
          <p:nvPicPr>
            <p:cNvPr id="21" name="Google Shape;21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62425" y="2834388"/>
              <a:ext cx="1181100" cy="118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828925" y="2834388"/>
              <a:ext cx="1181100" cy="1181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5" name="Google Shape;25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8CF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4DB5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A8CF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4DB5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DB5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" name="Google Shape;30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Comfortaa SemiBold"/>
              <a:buNone/>
              <a:defRPr sz="4000">
                <a:latin typeface="Comfortaa SemiBold"/>
                <a:ea typeface="Comfortaa SemiBold"/>
                <a:cs typeface="Comfortaa SemiBold"/>
                <a:sym typeface="Comforta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" name="Google Shape;32;p3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33" name="Google Shape;33;p3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34" name="Google Shape;34;p3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35" name="Google Shape;35;p3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36" name="Google Shape;36;p3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1" name="Google Shape;41;p4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42" name="Google Shape;42;p4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43" name="Google Shape;43;p4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44" name="Google Shape;44;p4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45" name="Google Shape;45;p4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52" name="Google Shape;52;p5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53" name="Google Shape;53;p5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54" name="Google Shape;54;p5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55" name="Google Shape;55;p5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60" name="Google Shape;60;p6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61" name="Google Shape;61;p6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62" name="Google Shape;62;p6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63" name="Google Shape;63;p6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None/>
              <a:defRPr sz="2000"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6" name="Google Shape;66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7" name="Google Shape;67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8" name="Google Shape;68;p7"/>
          <p:cNvGrpSpPr/>
          <p:nvPr/>
        </p:nvGrpSpPr>
        <p:grpSpPr>
          <a:xfrm>
            <a:off x="-19125" y="4735286"/>
            <a:ext cx="9182236" cy="440018"/>
            <a:chOff x="-19125" y="4735286"/>
            <a:chExt cx="9182236" cy="440018"/>
          </a:xfrm>
        </p:grpSpPr>
        <p:grpSp>
          <p:nvGrpSpPr>
            <p:cNvPr id="69" name="Google Shape;69;p7"/>
            <p:cNvGrpSpPr/>
            <p:nvPr/>
          </p:nvGrpSpPr>
          <p:grpSpPr>
            <a:xfrm>
              <a:off x="-19125" y="4735286"/>
              <a:ext cx="9182236" cy="440018"/>
              <a:chOff x="-19118" y="4617750"/>
              <a:chExt cx="9182236" cy="548378"/>
            </a:xfrm>
          </p:grpSpPr>
          <p:sp>
            <p:nvSpPr>
              <p:cNvPr id="70" name="Google Shape;70;p7"/>
              <p:cNvSpPr/>
              <p:nvPr/>
            </p:nvSpPr>
            <p:spPr>
              <a:xfrm flipH="1">
                <a:off x="19244" y="4617750"/>
                <a:ext cx="9143874" cy="548378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3367D6"/>
              </a:solidFill>
              <a:ln>
                <a:noFill/>
              </a:ln>
            </p:spPr>
          </p:sp>
          <p:sp>
            <p:nvSpPr>
              <p:cNvPr id="71" name="Google Shape;71;p7"/>
              <p:cNvSpPr/>
              <p:nvPr/>
            </p:nvSpPr>
            <p:spPr>
              <a:xfrm flipH="1">
                <a:off x="-19118" y="4677825"/>
                <a:ext cx="4769786" cy="473975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4285F4"/>
              </a:solidFill>
              <a:ln>
                <a:noFill/>
              </a:ln>
            </p:spPr>
          </p:sp>
        </p:grpSp>
        <p:sp>
          <p:nvSpPr>
            <p:cNvPr id="72" name="Google Shape;72;p7"/>
            <p:cNvSpPr txBox="1"/>
            <p:nvPr/>
          </p:nvSpPr>
          <p:spPr>
            <a:xfrm>
              <a:off x="7370075" y="4851800"/>
              <a:ext cx="1639200" cy="1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Spatial Thoughts</a:t>
              </a:r>
              <a:endParaRPr sz="1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5" name="Google Shape;75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E60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A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0E60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0A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00A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8"/>
          <p:cNvSpPr txBox="1"/>
          <p:nvPr>
            <p:ph type="title"/>
          </p:nvPr>
        </p:nvSpPr>
        <p:spPr>
          <a:xfrm>
            <a:off x="490250" y="526350"/>
            <a:ext cx="8310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EF"/>
              </a:buClr>
              <a:buSzPts val="4200"/>
              <a:buFont typeface="Comfortaa Medium"/>
              <a:buNone/>
              <a:defRPr sz="4200">
                <a:solidFill>
                  <a:srgbClr val="00AFEF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Comfortaa SemiBold"/>
              <a:buNone/>
              <a:defRPr sz="4200">
                <a:latin typeface="Comfortaa SemiBold"/>
                <a:ea typeface="Comfortaa SemiBold"/>
                <a:cs typeface="Comfortaa SemiBold"/>
                <a:sym typeface="Comforta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omfortaa"/>
              <a:buNone/>
              <a:defRPr sz="2100">
                <a:latin typeface="Comfortaa"/>
                <a:ea typeface="Comfortaa"/>
                <a:cs typeface="Comfortaa"/>
                <a:sym typeface="Comforta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Char char="●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○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■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○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■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○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Helvetica Neue"/>
              <a:buChar char="■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8" name="Google Shape;88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2" name="Google Shape;92;p10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93" name="Google Shape;93;p10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94" name="Google Shape;94;p10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95" name="Google Shape;95;p10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96" name="Google Shape;96;p10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Line Title with Bullets">
  <p:cSld name="One Line Title with Bullet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 txBox="1"/>
          <p:nvPr>
            <p:ph type="title"/>
          </p:nvPr>
        </p:nvSpPr>
        <p:spPr>
          <a:xfrm>
            <a:off x="353625" y="149075"/>
            <a:ext cx="8400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None/>
              <a:defRPr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indent="0" lvl="5" marL="45720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indent="0" lvl="6" marL="91440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indent="0" lvl="7" marL="137160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indent="0" lvl="8" marL="182880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242650" y="843550"/>
            <a:ext cx="8553000" cy="3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Open Sans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Open Sans"/>
              <a:buChar char="–"/>
              <a:defRPr sz="1400"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Open Sans"/>
              <a:buChar char="•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Open Sans"/>
              <a:buChar char="–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Open Sans"/>
              <a:buChar char="»"/>
              <a:defRPr sz="1000">
                <a:latin typeface="Open Sans"/>
                <a:ea typeface="Open Sans"/>
                <a:cs typeface="Open Sans"/>
                <a:sym typeface="Open Sans"/>
              </a:defRPr>
            </a:lvl5pPr>
            <a:lvl6pPr indent="-292100" lvl="5" marL="2743200" marR="0" algn="l">
              <a:spcBef>
                <a:spcPts val="400"/>
              </a:spcBef>
              <a:spcAft>
                <a:spcPts val="0"/>
              </a:spcAft>
              <a:buSzPts val="1000"/>
              <a:buFont typeface="Open Sans"/>
              <a:buChar char="•"/>
              <a:defRPr sz="1000">
                <a:latin typeface="Open Sans"/>
                <a:ea typeface="Open Sans"/>
                <a:cs typeface="Open Sans"/>
                <a:sym typeface="Open Sans"/>
              </a:defRPr>
            </a:lvl6pPr>
            <a:lvl7pPr indent="-292100" lvl="6" marL="3200400" marR="0" algn="l">
              <a:spcBef>
                <a:spcPts val="1600"/>
              </a:spcBef>
              <a:spcAft>
                <a:spcPts val="0"/>
              </a:spcAft>
              <a:buSzPts val="1000"/>
              <a:buFont typeface="Open Sans"/>
              <a:buChar char="•"/>
              <a:defRPr sz="1000">
                <a:latin typeface="Open Sans"/>
                <a:ea typeface="Open Sans"/>
                <a:cs typeface="Open Sans"/>
                <a:sym typeface="Open Sans"/>
              </a:defRPr>
            </a:lvl7pPr>
            <a:lvl8pPr indent="-292100" lvl="7" marL="3657600" marR="0" algn="l">
              <a:spcBef>
                <a:spcPts val="1600"/>
              </a:spcBef>
              <a:spcAft>
                <a:spcPts val="0"/>
              </a:spcAft>
              <a:buSzPts val="1000"/>
              <a:buFont typeface="Open Sans"/>
              <a:buChar char="•"/>
              <a:defRPr sz="1000">
                <a:latin typeface="Open Sans"/>
                <a:ea typeface="Open Sans"/>
                <a:cs typeface="Open Sans"/>
                <a:sym typeface="Open Sans"/>
              </a:defRPr>
            </a:lvl8pPr>
            <a:lvl9pPr indent="-292100" lvl="8" marL="4114800" marR="0" algn="l">
              <a:spcBef>
                <a:spcPts val="1600"/>
              </a:spcBef>
              <a:spcAft>
                <a:spcPts val="1600"/>
              </a:spcAft>
              <a:buSzPts val="1000"/>
              <a:buFont typeface="Open Sans"/>
              <a:buChar char="•"/>
              <a:defRPr sz="1000"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 Medium"/>
              <a:buNone/>
              <a:defRPr sz="30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skill.md" TargetMode="External"/><Relationship Id="rId4" Type="http://schemas.openxmlformats.org/officeDocument/2006/relationships/hyperlink" Target="http://skill.md" TargetMode="External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mattpocock/skills/blob/main/skills/engineering/research/SKILL.md" TargetMode="External"/><Relationship Id="rId4" Type="http://schemas.openxmlformats.org/officeDocument/2006/relationships/hyperlink" Target="https://github.com/spatialthoughts/QGIS-UG-India/blob/main/.claude/commands/add-new-content.md" TargetMode="External"/><Relationship Id="rId5" Type="http://schemas.openxmlformats.org/officeDocument/2006/relationships/hyperlink" Target="https://github.com/spatialthoughts/spatialthoughts-ai-skills/blob/main/skills/cloud-native-remote-sensing/SKILL.md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anthropics/skills/tree/main" TargetMode="External"/><Relationship Id="rId4" Type="http://schemas.openxmlformats.org/officeDocument/2006/relationships/hyperlink" Target="https://www.skills.sh/" TargetMode="External"/><Relationship Id="rId5" Type="http://schemas.openxmlformats.org/officeDocument/2006/relationships/hyperlink" Target="https://isaac.earth/geospatial-skills/#catalog" TargetMode="External"/><Relationship Id="rId6" Type="http://schemas.openxmlformats.org/officeDocument/2006/relationships/hyperlink" Target="https://github.com/spatialthoughts/spatialthoughts-ai-skills/" TargetMode="External"/><Relationship Id="rId7" Type="http://schemas.openxmlformats.org/officeDocument/2006/relationships/hyperlink" Target="https://github.com/dekart-xyz/geosq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392138" y="3087288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A8CF45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Ujaval Gandhi</a:t>
            </a:r>
            <a:endParaRPr sz="2100">
              <a:solidFill>
                <a:srgbClr val="A8CF45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A8CF45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Spatial Thoughts</a:t>
            </a:r>
            <a:endParaRPr sz="2100">
              <a:solidFill>
                <a:srgbClr val="A8CF45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A8CF45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ujaval@spatialthoughts.com</a:t>
            </a:r>
            <a:endParaRPr sz="2100">
              <a:solidFill>
                <a:srgbClr val="A8CF45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460950" y="1819534"/>
            <a:ext cx="82221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100">
                <a:solidFill>
                  <a:srgbClr val="A8CF45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Agentic Coding for Geospatial</a:t>
            </a:r>
            <a:endParaRPr i="1" sz="2100">
              <a:solidFill>
                <a:srgbClr val="A8CF45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392150" y="6151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A8CF45"/>
                </a:solidFill>
                <a:latin typeface="Comfortaa"/>
                <a:ea typeface="Comfortaa"/>
                <a:cs typeface="Comfortaa"/>
                <a:sym typeface="Comfortaa"/>
              </a:rPr>
              <a:t>Agent Skills</a:t>
            </a:r>
            <a:endParaRPr b="1" sz="3500">
              <a:solidFill>
                <a:srgbClr val="A8CF4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Skill?</a:t>
            </a:r>
            <a:endParaRPr/>
          </a:p>
        </p:txBody>
      </p:sp>
      <p:sp>
        <p:nvSpPr>
          <p:cNvPr id="114" name="Google Shape;114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Skills are a set of instructions that teach an AI agent how to perform specific, multi-step workflows.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Skills are defined by a SKILL.md containing natural-language instructions for the agent along with specific examples and patterns.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also publish your skill on GitHub and make it available for others to download and use with their own agent.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/>
          <p:nvPr>
            <p:ph type="title"/>
          </p:nvPr>
        </p:nvSpPr>
        <p:spPr>
          <a:xfrm>
            <a:off x="349975" y="126800"/>
            <a:ext cx="4234800" cy="9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are just Markdown files</a:t>
            </a:r>
            <a:endParaRPr/>
          </a:p>
        </p:txBody>
      </p:sp>
      <p:sp>
        <p:nvSpPr>
          <p:cNvPr id="120" name="Google Shape;120;p1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folder containing </a:t>
            </a:r>
            <a:r>
              <a:rPr lang="en" u="sng">
                <a:solidFill>
                  <a:schemeClr val="hlink"/>
                </a:solidFill>
                <a:hlinkClick r:id="rId3"/>
              </a:rPr>
              <a:t>SKILL.md</a:t>
            </a:r>
            <a:r>
              <a:rPr lang="en"/>
              <a:t> file with instructions on how to complete task.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folder may also contain </a:t>
            </a:r>
            <a:r>
              <a:rPr lang="en"/>
              <a:t>scripts</a:t>
            </a:r>
            <a:r>
              <a:rPr lang="en"/>
              <a:t> and templates referred by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SKILL.md</a:t>
            </a:r>
            <a:r>
              <a:rPr lang="en"/>
              <a:t> file.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Skills are automatically loaded when a prompt or user intent matches the description of the skill.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Optionally, you can invoke the skill using a command - using the skill name. i.e. </a:t>
            </a:r>
            <a:r>
              <a:rPr lang="en">
                <a:latin typeface="Source Code Pro Light"/>
                <a:ea typeface="Source Code Pro Light"/>
                <a:cs typeface="Source Code Pro Light"/>
                <a:sym typeface="Source Code Pro Light"/>
              </a:rPr>
              <a:t>/create-cog</a:t>
            </a:r>
            <a:endParaRPr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1600"/>
              </a:spcAft>
              <a:buSzPts val="1400"/>
              <a:buChar char="●"/>
            </a:pPr>
            <a:r>
              <a:rPr lang="en"/>
              <a:t>Commands</a:t>
            </a:r>
            <a:endParaRPr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8900" y="512150"/>
            <a:ext cx="4292700" cy="385702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Skills?</a:t>
            </a:r>
            <a:endParaRPr/>
          </a:p>
        </p:txBody>
      </p:sp>
      <p:sp>
        <p:nvSpPr>
          <p:cNvPr id="127" name="Google Shape;127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Skills range for simple instructions to complex workflows.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skills to change or guide model behavior.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Many users have created skills with instructions for the AI model to tailor its output for specific purposes. [</a:t>
            </a:r>
            <a:r>
              <a:rPr lang="en" u="sng">
                <a:solidFill>
                  <a:schemeClr val="hlink"/>
                </a:solidFill>
                <a:hlinkClick r:id="rId3"/>
              </a:rPr>
              <a:t>Example</a:t>
            </a:r>
            <a:r>
              <a:rPr lang="en"/>
              <a:t>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skills to automate a workflow.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Take any repeated multi-step task and create a skill to automate it. [</a:t>
            </a:r>
            <a:r>
              <a:rPr lang="en" u="sng">
                <a:solidFill>
                  <a:schemeClr val="hlink"/>
                </a:solidFill>
                <a:hlinkClick r:id="rId4"/>
              </a:rPr>
              <a:t>Example</a:t>
            </a:r>
            <a:r>
              <a:rPr lang="en"/>
              <a:t>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skills to ensure </a:t>
            </a:r>
            <a:r>
              <a:rPr lang="en"/>
              <a:t>adherence</a:t>
            </a:r>
            <a:r>
              <a:rPr lang="en"/>
              <a:t> to a specific coding pattern.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Encapsulate your preferences with examples [</a:t>
            </a:r>
            <a:r>
              <a:rPr lang="en" u="sng">
                <a:solidFill>
                  <a:schemeClr val="hlink"/>
                </a:solidFill>
                <a:hlinkClick r:id="rId5"/>
              </a:rPr>
              <a:t>Example</a:t>
            </a:r>
            <a:r>
              <a:rPr lang="en"/>
              <a:t>]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Skills</a:t>
            </a:r>
            <a:endParaRPr/>
          </a:p>
        </p:txBody>
      </p:sp>
      <p:sp>
        <p:nvSpPr>
          <p:cNvPr id="133" name="Google Shape;133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Anthropic Official Skills</a:t>
            </a:r>
            <a:r>
              <a:rPr lang="en"/>
              <a:t>: Official skills repository by Anthropic. skill-creator, pdf, xlsx are useful skills for Data Science work.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Skills Leaderboard</a:t>
            </a:r>
            <a:r>
              <a:rPr lang="en"/>
              <a:t>: Discover, install and manage skills using the skills CLI.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Geospatial Skills for Agents</a:t>
            </a:r>
            <a:r>
              <a:rPr lang="en"/>
              <a:t>: A catalog of installable geospatial tools and capabilities designed for coding agents, covering raster/vector processing, satellite data, and interactive visualization.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SpatialThoughts AI Skills</a:t>
            </a:r>
            <a:r>
              <a:rPr lang="en"/>
              <a:t>: Repository containing skills accompanied with Spatial Thoughts Courses.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GeoSQL</a:t>
            </a:r>
            <a:r>
              <a:rPr lang="en"/>
              <a:t>: Skill for data scientists and analysts working with geospatial data on PostGIS, BigQuery, Snowflake, and Wherobots.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