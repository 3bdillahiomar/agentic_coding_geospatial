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Comfortaa Light"/>
      <p:regular r:id="rId27"/>
      <p:bold r:id="rId28"/>
    </p:embeddedFont>
    <p:embeddedFont>
      <p:font typeface="Comfortaa SemiBold"/>
      <p:regular r:id="rId29"/>
      <p:bold r:id="rId30"/>
    </p:embeddedFont>
    <p:embeddedFont>
      <p:font typeface="Roboto"/>
      <p:regular r:id="rId31"/>
      <p:bold r:id="rId32"/>
      <p:italic r:id="rId33"/>
      <p:boldItalic r:id="rId34"/>
    </p:embeddedFont>
    <p:embeddedFont>
      <p:font typeface="Lato Light"/>
      <p:regular r:id="rId35"/>
      <p:bold r:id="rId36"/>
      <p:italic r:id="rId37"/>
      <p:boldItalic r:id="rId38"/>
    </p:embeddedFont>
    <p:embeddedFont>
      <p:font typeface="Helvetica Neue"/>
      <p:regular r:id="rId39"/>
      <p:bold r:id="rId40"/>
      <p:italic r:id="rId41"/>
      <p:boldItalic r:id="rId42"/>
    </p:embeddedFont>
    <p:embeddedFont>
      <p:font typeface="Helvetica Neue Light"/>
      <p:regular r:id="rId43"/>
      <p:bold r:id="rId44"/>
      <p:italic r:id="rId45"/>
      <p:boldItalic r:id="rId46"/>
    </p:embeddedFont>
    <p:embeddedFont>
      <p:font typeface="Comfortaa Medium"/>
      <p:regular r:id="rId47"/>
      <p:bold r:id="rId48"/>
    </p:embeddedFont>
    <p:embeddedFont>
      <p:font typeface="Comfortaa"/>
      <p:regular r:id="rId49"/>
      <p:bold r:id="rId50"/>
    </p:embeddedFont>
    <p:embeddedFont>
      <p:font typeface="Open Sans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44" Type="http://schemas.openxmlformats.org/officeDocument/2006/relationships/font" Target="fonts/HelveticaNeueLight-bold.fntdata"/><Relationship Id="rId43" Type="http://schemas.openxmlformats.org/officeDocument/2006/relationships/font" Target="fonts/HelveticaNeueLight-regular.fntdata"/><Relationship Id="rId46" Type="http://schemas.openxmlformats.org/officeDocument/2006/relationships/font" Target="fonts/HelveticaNeueLight-boldItalic.fntdata"/><Relationship Id="rId45" Type="http://schemas.openxmlformats.org/officeDocument/2006/relationships/font" Target="fonts/HelveticaNeue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ComfortaaMedium-bold.fntdata"/><Relationship Id="rId47" Type="http://schemas.openxmlformats.org/officeDocument/2006/relationships/font" Target="fonts/ComfortaaMedium-regular.fntdata"/><Relationship Id="rId49" Type="http://schemas.openxmlformats.org/officeDocument/2006/relationships/font" Target="fonts/Comforta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regular.fntdata"/><Relationship Id="rId30" Type="http://schemas.openxmlformats.org/officeDocument/2006/relationships/font" Target="fonts/ComfortaaSemiBold-bold.fntdata"/><Relationship Id="rId33" Type="http://schemas.openxmlformats.org/officeDocument/2006/relationships/font" Target="fonts/Roboto-italic.fntdata"/><Relationship Id="rId32" Type="http://schemas.openxmlformats.org/officeDocument/2006/relationships/font" Target="fonts/Roboto-bold.fntdata"/><Relationship Id="rId35" Type="http://schemas.openxmlformats.org/officeDocument/2006/relationships/font" Target="fonts/LatoLight-regular.fntdata"/><Relationship Id="rId34" Type="http://schemas.openxmlformats.org/officeDocument/2006/relationships/font" Target="fonts/Roboto-boldItalic.fntdata"/><Relationship Id="rId37" Type="http://schemas.openxmlformats.org/officeDocument/2006/relationships/font" Target="fonts/LatoLight-italic.fntdata"/><Relationship Id="rId36" Type="http://schemas.openxmlformats.org/officeDocument/2006/relationships/font" Target="fonts/LatoLight-bold.fntdata"/><Relationship Id="rId39" Type="http://schemas.openxmlformats.org/officeDocument/2006/relationships/font" Target="fonts/HelveticaNeue-regular.fntdata"/><Relationship Id="rId38" Type="http://schemas.openxmlformats.org/officeDocument/2006/relationships/font" Target="fonts/LatoLight-boldItalic.fntdata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ComfortaaLight-bold.fntdata"/><Relationship Id="rId27" Type="http://schemas.openxmlformats.org/officeDocument/2006/relationships/font" Target="fonts/ComfortaaLight-regular.fntdata"/><Relationship Id="rId29" Type="http://schemas.openxmlformats.org/officeDocument/2006/relationships/font" Target="fonts/ComfortaaSemiBold-regular.fntdata"/><Relationship Id="rId51" Type="http://schemas.openxmlformats.org/officeDocument/2006/relationships/font" Target="fonts/OpenSans-regular.fntdata"/><Relationship Id="rId50" Type="http://schemas.openxmlformats.org/officeDocument/2006/relationships/font" Target="fonts/Comfortaa-bold.fntdata"/><Relationship Id="rId53" Type="http://schemas.openxmlformats.org/officeDocument/2006/relationships/font" Target="fonts/OpenSans-italic.fntdata"/><Relationship Id="rId52" Type="http://schemas.openxmlformats.org/officeDocument/2006/relationships/font" Target="fonts/Open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54" Type="http://schemas.openxmlformats.org/officeDocument/2006/relationships/font" Target="fonts/OpenSa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453ef4b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453ef4b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b784de81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eb784de81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23a233c9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23a233c9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1135559a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1135559a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a289a4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9a289a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f1135559a3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f1135559a3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1135559a3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1135559a3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1135559a3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1135559a3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a289a47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9a289a47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9a289a47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f9a289a47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7253ef57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7253ef5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a289a47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9a289a47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7253ef57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7253ef57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7253ef57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f7253ef57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7253ef57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7253ef57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1135559a3_2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1135559a3_2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1135559a3_2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1135559a3_2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9a289a4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9a289a4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9a289a47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f9a289a47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a289a47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9a289a47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f9a289a47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f9a289a47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7.png"/><Relationship Id="rId6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96050" y="119857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4200"/>
              <a:buFont typeface="Comfortaa"/>
              <a:buNone/>
              <a:defRPr b="1" sz="42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2138" y="2249088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8CF45"/>
              </a:buClr>
              <a:buSzPts val="2100"/>
              <a:buFont typeface="Comfortaa Light"/>
              <a:buNone/>
              <a:defRPr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14" name="Google Shape;14;p2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15" name="Google Shape;15;p2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16" name="Google Shape;16;p2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17" name="Google Shape;17;p2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" name="Google Shape;18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0350" y="4066853"/>
            <a:ext cx="683575" cy="58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>
            <a:off x="743000" y="4909375"/>
            <a:ext cx="11031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rgbClr val="F06292"/>
                </a:solidFill>
                <a:latin typeface="Comfortaa"/>
                <a:ea typeface="Comfortaa"/>
                <a:cs typeface="Comfortaa"/>
                <a:sym typeface="Comforta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 BY-4.0</a:t>
            </a:r>
            <a:endParaRPr sz="800">
              <a:solidFill>
                <a:srgbClr val="FFFFFF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20" name="Google Shape;20;p2"/>
          <p:cNvGrpSpPr/>
          <p:nvPr/>
        </p:nvGrpSpPr>
        <p:grpSpPr>
          <a:xfrm>
            <a:off x="310486" y="4909405"/>
            <a:ext cx="432008" cy="202913"/>
            <a:chOff x="2828925" y="2834388"/>
            <a:chExt cx="2514600" cy="1181100"/>
          </a:xfrm>
        </p:grpSpPr>
        <p:pic>
          <p:nvPicPr>
            <p:cNvPr id="21" name="Google Shape;21;p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1624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828925" y="2834388"/>
              <a:ext cx="1181100" cy="11811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oogle Shape;24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5" name="Google Shape;25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A8CF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4DB54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Font typeface="Comfortaa SemiBold"/>
              <a:buNone/>
              <a:defRPr sz="40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2" name="Google Shape;32;p3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34" name="Google Shape;34;p3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35" name="Google Shape;35;p3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36" name="Google Shape;36;p3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●"/>
              <a:defRPr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Font typeface="Helvetica Neue"/>
              <a:buChar char="○"/>
              <a:defRPr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Font typeface="Helvetica Neue"/>
              <a:buChar char="■"/>
              <a:defRPr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42" name="Google Shape;42;p4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43" name="Google Shape;43;p4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44" name="Google Shape;44;p4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45" name="Google Shape;45;p4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Helvetica Neue"/>
              <a:buChar char="●"/>
              <a:defRPr sz="1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" name="Google Shape;51;p5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52" name="Google Shape;52;p5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53" name="Google Shape;53;p5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54" name="Google Shape;54;p5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55" name="Google Shape;55;p5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9" name="Google Shape;59;p6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60" name="Google Shape;60;p6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61" name="Google Shape;61;p6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62" name="Google Shape;62;p6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63" name="Google Shape;63;p6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mfortaa"/>
              <a:buNone/>
              <a:defRPr sz="2000"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6" name="Google Shape;66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●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Helvetica Neue"/>
              <a:buChar char="○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Helvetica Neue"/>
              <a:buChar char="■"/>
              <a:defRPr sz="12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67" name="Google Shape;67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8" name="Google Shape;68;p7"/>
          <p:cNvGrpSpPr/>
          <p:nvPr/>
        </p:nvGrpSpPr>
        <p:grpSpPr>
          <a:xfrm>
            <a:off x="-19125" y="4735286"/>
            <a:ext cx="9182236" cy="440018"/>
            <a:chOff x="-19125" y="4735286"/>
            <a:chExt cx="9182236" cy="440018"/>
          </a:xfrm>
        </p:grpSpPr>
        <p:grpSp>
          <p:nvGrpSpPr>
            <p:cNvPr id="69" name="Google Shape;69;p7"/>
            <p:cNvGrpSpPr/>
            <p:nvPr/>
          </p:nvGrpSpPr>
          <p:grpSpPr>
            <a:xfrm>
              <a:off x="-19125" y="4735286"/>
              <a:ext cx="9182236" cy="440018"/>
              <a:chOff x="-19118" y="4617750"/>
              <a:chExt cx="9182236" cy="548378"/>
            </a:xfrm>
          </p:grpSpPr>
          <p:sp>
            <p:nvSpPr>
              <p:cNvPr id="70" name="Google Shape;70;p7"/>
              <p:cNvSpPr/>
              <p:nvPr/>
            </p:nvSpPr>
            <p:spPr>
              <a:xfrm flipH="1">
                <a:off x="19244" y="4617750"/>
                <a:ext cx="9143874" cy="548378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3367D6"/>
              </a:solidFill>
              <a:ln>
                <a:noFill/>
              </a:ln>
            </p:spPr>
          </p:sp>
          <p:sp>
            <p:nvSpPr>
              <p:cNvPr id="71" name="Google Shape;71;p7"/>
              <p:cNvSpPr/>
              <p:nvPr/>
            </p:nvSpPr>
            <p:spPr>
              <a:xfrm flipH="1">
                <a:off x="-19118" y="4677825"/>
                <a:ext cx="4769786" cy="473975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72" name="Google Shape;72;p7"/>
            <p:cNvSpPr txBox="1"/>
            <p:nvPr/>
          </p:nvSpPr>
          <p:spPr>
            <a:xfrm>
              <a:off x="7370075" y="4851800"/>
              <a:ext cx="1639200" cy="1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Spatial Thoughts</a:t>
              </a:r>
              <a:endParaRPr sz="1100">
                <a:solidFill>
                  <a:srgbClr val="FFFFF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5" name="Google Shape;75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rgbClr val="0E6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rgbClr val="00A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" name="Google Shape;80;p8"/>
          <p:cNvSpPr txBox="1"/>
          <p:nvPr>
            <p:ph type="title"/>
          </p:nvPr>
        </p:nvSpPr>
        <p:spPr>
          <a:xfrm>
            <a:off x="490250" y="526350"/>
            <a:ext cx="8310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FEF"/>
              </a:buClr>
              <a:buSzPts val="4200"/>
              <a:buFont typeface="Comfortaa Medium"/>
              <a:buNone/>
              <a:defRPr sz="4200">
                <a:solidFill>
                  <a:srgbClr val="00AFEF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4" name="Google Shape;84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Comfortaa SemiBold"/>
              <a:buNone/>
              <a:defRPr sz="4200"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omfortaa"/>
              <a:buNone/>
              <a:defRPr sz="2100">
                <a:latin typeface="Comfortaa"/>
                <a:ea typeface="Comfortaa"/>
                <a:cs typeface="Comfortaa"/>
                <a:sym typeface="Comforta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●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lvetica Neue"/>
              <a:buChar char="○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Helvetica Neue"/>
              <a:buChar char="■"/>
              <a:defRPr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8" name="Google Shape;88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92" name="Google Shape;92;p10"/>
          <p:cNvGrpSpPr/>
          <p:nvPr/>
        </p:nvGrpSpPr>
        <p:grpSpPr>
          <a:xfrm>
            <a:off x="-19125" y="4735286"/>
            <a:ext cx="9182236" cy="440002"/>
            <a:chOff x="-19125" y="4735286"/>
            <a:chExt cx="9182236" cy="440002"/>
          </a:xfrm>
        </p:grpSpPr>
        <p:grpSp>
          <p:nvGrpSpPr>
            <p:cNvPr id="93" name="Google Shape;93;p10"/>
            <p:cNvGrpSpPr/>
            <p:nvPr/>
          </p:nvGrpSpPr>
          <p:grpSpPr>
            <a:xfrm>
              <a:off x="-19125" y="4735286"/>
              <a:ext cx="9182236" cy="440002"/>
              <a:chOff x="-19125" y="4735286"/>
              <a:chExt cx="9182236" cy="440002"/>
            </a:xfrm>
          </p:grpSpPr>
          <p:sp>
            <p:nvSpPr>
              <p:cNvPr id="94" name="Google Shape;94;p10"/>
              <p:cNvSpPr/>
              <p:nvPr/>
            </p:nvSpPr>
            <p:spPr>
              <a:xfrm flipH="1">
                <a:off x="19237" y="4735286"/>
                <a:ext cx="9143874" cy="440002"/>
              </a:xfrm>
              <a:custGeom>
                <a:rect b="b" l="l" r="r" t="t"/>
                <a:pathLst>
                  <a:path extrusionOk="0" h="19840" w="367556">
                    <a:moveTo>
                      <a:pt x="0" y="19840"/>
                    </a:moveTo>
                    <a:lnTo>
                      <a:pt x="515" y="0"/>
                    </a:lnTo>
                    <a:lnTo>
                      <a:pt x="367556" y="11270"/>
                    </a:lnTo>
                    <a:lnTo>
                      <a:pt x="367044" y="18698"/>
                    </a:lnTo>
                    <a:close/>
                  </a:path>
                </a:pathLst>
              </a:custGeom>
              <a:solidFill>
                <a:srgbClr val="0E60C0"/>
              </a:solidFill>
              <a:ln>
                <a:noFill/>
              </a:ln>
            </p:spPr>
          </p:sp>
          <p:sp>
            <p:nvSpPr>
              <p:cNvPr id="95" name="Google Shape;95;p10"/>
              <p:cNvSpPr/>
              <p:nvPr/>
            </p:nvSpPr>
            <p:spPr>
              <a:xfrm flipH="1">
                <a:off x="-19125" y="4783491"/>
                <a:ext cx="4769786" cy="380318"/>
              </a:xfrm>
              <a:custGeom>
                <a:rect b="b" l="l" r="r" t="t"/>
                <a:pathLst>
                  <a:path extrusionOk="0" h="18959" w="366343">
                    <a:moveTo>
                      <a:pt x="0" y="18521"/>
                    </a:moveTo>
                    <a:lnTo>
                      <a:pt x="366343" y="0"/>
                    </a:lnTo>
                    <a:lnTo>
                      <a:pt x="366052" y="18959"/>
                    </a:lnTo>
                    <a:close/>
                  </a:path>
                </a:pathLst>
              </a:custGeom>
              <a:solidFill>
                <a:srgbClr val="00AFEF"/>
              </a:solidFill>
              <a:ln>
                <a:noFill/>
              </a:ln>
            </p:spPr>
          </p:sp>
        </p:grpSp>
        <p:pic>
          <p:nvPicPr>
            <p:cNvPr id="96" name="Google Shape;96;p10"/>
            <p:cNvPicPr preferRelativeResize="0"/>
            <p:nvPr/>
          </p:nvPicPr>
          <p:blipFill rotWithShape="1">
            <a:blip r:embed="rId2">
              <a:alphaModFix/>
            </a:blip>
            <a:srcRect b="0" l="0" r="0" t="79523"/>
            <a:stretch/>
          </p:blipFill>
          <p:spPr>
            <a:xfrm>
              <a:off x="7447050" y="4825175"/>
              <a:ext cx="1629275" cy="260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Line Title with Bullets">
  <p:cSld name="One Line Title with Bulle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"/>
          <p:cNvSpPr txBox="1"/>
          <p:nvPr>
            <p:ph type="title"/>
          </p:nvPr>
        </p:nvSpPr>
        <p:spPr>
          <a:xfrm>
            <a:off x="353625" y="149075"/>
            <a:ext cx="84006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pen Sans"/>
              <a:buNone/>
              <a:defRPr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indent="0" lvl="5" marL="4572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indent="0" lvl="6" marL="9144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indent="0" lvl="7" marL="13716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indent="0" lvl="8" marL="1828800" marR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2"/>
          <p:cNvSpPr txBox="1"/>
          <p:nvPr>
            <p:ph idx="1" type="body"/>
          </p:nvPr>
        </p:nvSpPr>
        <p:spPr>
          <a:xfrm>
            <a:off x="242650" y="843550"/>
            <a:ext cx="8553000" cy="37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Open Sans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Open Sans"/>
              <a:buChar char="–"/>
              <a:defRPr sz="1400">
                <a:latin typeface="Open Sans"/>
                <a:ea typeface="Open Sans"/>
                <a:cs typeface="Open Sans"/>
                <a:sym typeface="Open Sans"/>
              </a:defRPr>
            </a:lvl2pPr>
            <a:lvl3pPr indent="-304800" lvl="2" marL="13716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•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indent="-304800" lvl="3" marL="18288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Font typeface="Open Sans"/>
              <a:buChar char="–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indent="-292100" lvl="4" marL="2286000" marR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Font typeface="Open Sans"/>
              <a:buChar char="»"/>
              <a:defRPr sz="1000">
                <a:latin typeface="Open Sans"/>
                <a:ea typeface="Open Sans"/>
                <a:cs typeface="Open Sans"/>
                <a:sym typeface="Open Sans"/>
              </a:defRPr>
            </a:lvl5pPr>
            <a:lvl6pPr indent="-292100" lvl="5" marL="2743200" marR="0" algn="l">
              <a:spcBef>
                <a:spcPts val="4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6pPr>
            <a:lvl7pPr indent="-292100" lvl="6" marL="32004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7pPr>
            <a:lvl8pPr indent="-292100" lvl="7" marL="3657600" marR="0" algn="l">
              <a:spcBef>
                <a:spcPts val="1600"/>
              </a:spcBef>
              <a:spcAft>
                <a:spcPts val="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8pPr>
            <a:lvl9pPr indent="-292100" lvl="8" marL="4114800" marR="0" algn="l">
              <a:spcBef>
                <a:spcPts val="1600"/>
              </a:spcBef>
              <a:spcAft>
                <a:spcPts val="1600"/>
              </a:spcAft>
              <a:buSzPts val="1000"/>
              <a:buFont typeface="Open Sans"/>
              <a:buChar char="•"/>
              <a:defRPr sz="1000"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omfortaa Medium"/>
              <a:buNone/>
              <a:defRPr sz="3000">
                <a:solidFill>
                  <a:schemeClr val="dk1"/>
                </a:solidFill>
                <a:latin typeface="Comfortaa Medium"/>
                <a:ea typeface="Comfortaa Medium"/>
                <a:cs typeface="Comfortaa Medium"/>
                <a:sym typeface="Comforta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hyperlink" Target="http://www.spatialthoughts.com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spatialthoughts.com/verify/" TargetMode="External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arxiv.org/abs/2210.03629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hatgpt.com/codex/" TargetMode="External"/><Relationship Id="rId4" Type="http://schemas.openxmlformats.org/officeDocument/2006/relationships/hyperlink" Target="https://geminicli.com/" TargetMode="External"/><Relationship Id="rId5" Type="http://schemas.openxmlformats.org/officeDocument/2006/relationships/hyperlink" Target="https://github.com/features/copilot/cli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opencode.ai/" TargetMode="External"/><Relationship Id="rId4" Type="http://schemas.openxmlformats.org/officeDocument/2006/relationships/hyperlink" Target="https://pi.dev/" TargetMode="External"/><Relationship Id="rId5" Type="http://schemas.openxmlformats.org/officeDocument/2006/relationships/hyperlink" Target="https://deepseek.com/harness/en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courses.spatialthoughts.com/agentic-coding-geospatial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arkdownguide.org/basic-syntax/" TargetMode="External"/><Relationship Id="rId4" Type="http://schemas.openxmlformats.org/officeDocument/2006/relationships/hyperlink" Target="https://www.markdownguide.org/extended-syntax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ode.claude.com/docs/en/memory#claude-md-files" TargetMode="Externa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3"/>
          <p:cNvSpPr txBox="1"/>
          <p:nvPr/>
        </p:nvSpPr>
        <p:spPr>
          <a:xfrm>
            <a:off x="392138" y="3087288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 Gandhi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Spatial Thoughts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ujaval@spatialthoughts.com</a:t>
            </a:r>
            <a:endParaRPr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460950" y="1819534"/>
            <a:ext cx="8222100" cy="7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100">
                <a:solidFill>
                  <a:srgbClr val="A8CF45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Agentic Coding for Geospatial</a:t>
            </a:r>
            <a:endParaRPr i="1" sz="2100">
              <a:solidFill>
                <a:srgbClr val="A8CF45"/>
              </a:solidFill>
              <a:latin typeface="Comfortaa Light"/>
              <a:ea typeface="Comfortaa Light"/>
              <a:cs typeface="Comfortaa Light"/>
              <a:sym typeface="Comfortaa Light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392150" y="6151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A8CF45"/>
                </a:solidFill>
                <a:latin typeface="Comfortaa"/>
                <a:ea typeface="Comfortaa"/>
                <a:cs typeface="Comfortaa"/>
                <a:sym typeface="Comfortaa"/>
              </a:rPr>
              <a:t>Introduction and Course Overview</a:t>
            </a:r>
            <a:endParaRPr b="1" sz="3500">
              <a:solidFill>
                <a:srgbClr val="A8CF45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311700" y="1077925"/>
            <a:ext cx="4905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learning platform for modern geospatial technologies.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Free and open learning content for QGIS, Python, GDAL and Google Earth Engine.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Learning materials used by 1 million+ users every year.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material is licensed under CC-BY allowing anyone to use and adapt for free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Online academy for cohort-based instructor-led classes.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Trained participants from over 100 countries.</a:t>
            </a:r>
            <a:endParaRPr/>
          </a:p>
        </p:txBody>
      </p:sp>
      <p:sp>
        <p:nvSpPr>
          <p:cNvPr id="114" name="Google Shape;11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Spatial Thoughts</a:t>
            </a:r>
            <a:endParaRPr/>
          </a:p>
        </p:txBody>
      </p:sp>
      <p:pic>
        <p:nvPicPr>
          <p:cNvPr id="115" name="Google Shape;11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403" y="1017728"/>
            <a:ext cx="1845675" cy="143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675" y="2705979"/>
            <a:ext cx="671343" cy="62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8232" y="2725804"/>
            <a:ext cx="671343" cy="62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70775" y="2725796"/>
            <a:ext cx="671343" cy="628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73324" y="2647952"/>
            <a:ext cx="671350" cy="69760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5669450" y="3576050"/>
            <a:ext cx="2875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Lato Light"/>
                <a:ea typeface="Lato Light"/>
                <a:cs typeface="Lato Light"/>
                <a:sym typeface="Lato Light"/>
                <a:hlinkClick r:id="rId8"/>
              </a:rPr>
              <a:t>www.spatialthoughts.com</a:t>
            </a:r>
            <a:endParaRPr sz="1800">
              <a:solidFill>
                <a:schemeClr val="lt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308250" y="423425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308250" y="1014700"/>
            <a:ext cx="6261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Background in GIS and Remote Sensing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Intern at Indian Institute of Remote Sensing (IIRS), Dehradun, India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MS in Geospatial Information Engineering from University of Wisconsin - Madison, USA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15 years of professional experience</a:t>
            </a:r>
            <a:endParaRPr sz="16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One of the early employees at Google Inc.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Built large scale data processing pipelines for Google Earth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Led the team responsible for satellite and aerial imagery for Google Maps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Developed expertise in Google Earth Engine and trained 1000+ scientists and researchers across India</a:t>
            </a:r>
            <a:endParaRPr sz="1200"/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Presently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Left Google in 2020 to work on startup Spatial Thoughts.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Building open-source content and helping people master advanced geospatial skills.</a:t>
            </a:r>
            <a:endParaRPr sz="1200"/>
          </a:p>
        </p:txBody>
      </p:sp>
      <p:pic>
        <p:nvPicPr>
          <p:cNvPr id="127" name="Google Shape;12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9250" y="1014700"/>
            <a:ext cx="2266501" cy="226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7009000" y="3358675"/>
            <a:ext cx="1523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Ujaval Gandhi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311700" y="1001275"/>
            <a:ext cx="62610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Masters in Remote Sensing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Interest in Automating Workflows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Training Associate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Class logistics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Project support</a:t>
            </a:r>
            <a:endParaRPr sz="16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5" name="Google Shape;135;p16"/>
          <p:cNvSpPr txBox="1"/>
          <p:nvPr/>
        </p:nvSpPr>
        <p:spPr>
          <a:xfrm>
            <a:off x="6575763" y="2834900"/>
            <a:ext cx="15234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Vigna Purohit</a:t>
            </a:r>
            <a:endParaRPr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8400" y="619975"/>
            <a:ext cx="2038129" cy="2022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  <p:sp>
        <p:nvSpPr>
          <p:cNvPr id="142" name="Google Shape;142;p17"/>
          <p:cNvSpPr txBox="1"/>
          <p:nvPr>
            <p:ph idx="1" type="body"/>
          </p:nvPr>
        </p:nvSpPr>
        <p:spPr>
          <a:xfrm>
            <a:off x="1559200" y="2181950"/>
            <a:ext cx="3086100" cy="149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First Steps with Claude Code</a:t>
            </a:r>
            <a:endParaRPr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Application 1: Geospatial Data Analysis (Mapping Crime Hotspots)</a:t>
            </a:r>
            <a:endParaRPr sz="1300"/>
          </a:p>
        </p:txBody>
      </p:sp>
      <p:sp>
        <p:nvSpPr>
          <p:cNvPr id="143" name="Google Shape;143;p17"/>
          <p:cNvSpPr txBox="1"/>
          <p:nvPr>
            <p:ph idx="1" type="body"/>
          </p:nvPr>
        </p:nvSpPr>
        <p:spPr>
          <a:xfrm>
            <a:off x="1559100" y="1166675"/>
            <a:ext cx="30861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 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Getting Started with Agentic Coding</a:t>
            </a:r>
            <a:endParaRPr sz="1200"/>
          </a:p>
        </p:txBody>
      </p:sp>
      <p:sp>
        <p:nvSpPr>
          <p:cNvPr id="144" name="Google Shape;144;p17"/>
          <p:cNvSpPr txBox="1"/>
          <p:nvPr>
            <p:ph idx="1" type="body"/>
          </p:nvPr>
        </p:nvSpPr>
        <p:spPr>
          <a:xfrm>
            <a:off x="4868000" y="2181950"/>
            <a:ext cx="2697300" cy="1491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Application 2: Using Web APIs (Route Optimization)</a:t>
            </a:r>
            <a:endParaRPr sz="1300"/>
          </a:p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Agent Skills</a:t>
            </a:r>
            <a:endParaRPr sz="1300"/>
          </a:p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4868001" y="1166675"/>
            <a:ext cx="26973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Building Complex Workflows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1559200" y="2181950"/>
            <a:ext cx="3086100" cy="1461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/>
              <a:t>Application 3: Building a Personal Knowledge Website</a:t>
            </a:r>
            <a:endParaRPr sz="1300"/>
          </a:p>
        </p:txBody>
      </p:sp>
      <p:sp>
        <p:nvSpPr>
          <p:cNvPr id="152" name="Google Shape;152;p18"/>
          <p:cNvSpPr txBox="1"/>
          <p:nvPr>
            <p:ph idx="1" type="body"/>
          </p:nvPr>
        </p:nvSpPr>
        <p:spPr>
          <a:xfrm>
            <a:off x="1559100" y="1166675"/>
            <a:ext cx="30861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 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AI Second Brain</a:t>
            </a:r>
            <a:endParaRPr sz="12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3" name="Google Shape;153;p18"/>
          <p:cNvSpPr txBox="1"/>
          <p:nvPr>
            <p:ph idx="1" type="body"/>
          </p:nvPr>
        </p:nvSpPr>
        <p:spPr>
          <a:xfrm>
            <a:off x="4868000" y="2181950"/>
            <a:ext cx="2697300" cy="1461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MCP Servers</a:t>
            </a:r>
            <a:endParaRPr sz="1300"/>
          </a:p>
          <a:p>
            <a:pPr indent="0" lvl="0" marL="0" marR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300"/>
              <a:t>Application 4: Object Detection using Deep Learning</a:t>
            </a:r>
            <a:endParaRPr sz="13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54" name="Google Shape;154;p18"/>
          <p:cNvSpPr txBox="1"/>
          <p:nvPr>
            <p:ph idx="1" type="body"/>
          </p:nvPr>
        </p:nvSpPr>
        <p:spPr>
          <a:xfrm>
            <a:off x="4868001" y="1166675"/>
            <a:ext cx="26973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4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GeoAI</a:t>
            </a:r>
            <a:endParaRPr sz="12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and Evaluation</a:t>
            </a:r>
            <a:endParaRPr/>
          </a:p>
        </p:txBody>
      </p:sp>
      <p:sp>
        <p:nvSpPr>
          <p:cNvPr id="160" name="Google Shape;160;p19"/>
          <p:cNvSpPr txBox="1"/>
          <p:nvPr>
            <p:ph idx="1" type="body"/>
          </p:nvPr>
        </p:nvSpPr>
        <p:spPr>
          <a:xfrm>
            <a:off x="3863024" y="2528250"/>
            <a:ext cx="1366800" cy="607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Assignment 1*</a:t>
            </a:r>
            <a:endParaRPr sz="13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(1-2 hours)</a:t>
            </a:r>
            <a:endParaRPr sz="13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3888602" y="1461350"/>
            <a:ext cx="13668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Assignments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2368625" y="1461350"/>
            <a:ext cx="13506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2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2368625" y="2552825"/>
            <a:ext cx="1350600" cy="73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Class Exercises</a:t>
            </a:r>
            <a:endParaRPr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Live Quizzes</a:t>
            </a:r>
            <a:endParaRPr sz="1300"/>
          </a:p>
        </p:txBody>
      </p:sp>
      <p:sp>
        <p:nvSpPr>
          <p:cNvPr id="164" name="Google Shape;164;p19"/>
          <p:cNvSpPr txBox="1"/>
          <p:nvPr>
            <p:ph idx="1" type="body"/>
          </p:nvPr>
        </p:nvSpPr>
        <p:spPr>
          <a:xfrm>
            <a:off x="3773175" y="3729875"/>
            <a:ext cx="40080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/>
              <a:t>* Assignment is due on the last day of the course</a:t>
            </a:r>
            <a:endParaRPr b="1" i="1" sz="1200"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5424775" y="1461350"/>
            <a:ext cx="1350600" cy="866400"/>
          </a:xfrm>
          <a:prstGeom prst="rect">
            <a:avLst/>
          </a:prstGeom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3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4</a:t>
            </a:r>
            <a:endParaRPr/>
          </a:p>
        </p:txBody>
      </p:sp>
      <p:sp>
        <p:nvSpPr>
          <p:cNvPr id="166" name="Google Shape;166;p19"/>
          <p:cNvSpPr txBox="1"/>
          <p:nvPr>
            <p:ph idx="1" type="body"/>
          </p:nvPr>
        </p:nvSpPr>
        <p:spPr>
          <a:xfrm>
            <a:off x="5424775" y="2552825"/>
            <a:ext cx="1350600" cy="7335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Class Exercises</a:t>
            </a:r>
            <a:endParaRPr sz="13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300"/>
              <a:t>Live Quizzes</a:t>
            </a:r>
            <a:endParaRPr sz="13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Session Structure</a:t>
            </a:r>
            <a:endParaRPr/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the live sessions are hands-on.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have 10-15 minutes of explanation of a concept, followed by a 5-minute exercise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 participants are expected to complete the exercises during the class.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can ask questions at any point during the session. Just unmute and ask, or use the chat.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will have 1 break of 10 minutes during each 3-hour session.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sessions are recorded and will be shared with the participants. If you miss any session, watch the recording and submit the exercises by email.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Certification</a:t>
            </a:r>
            <a:endParaRPr/>
          </a:p>
        </p:txBody>
      </p:sp>
      <p:sp>
        <p:nvSpPr>
          <p:cNvPr id="178" name="Google Shape;178;p21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participant would be given a certificate of completion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Certificates are issued by Spatial Thoughts and come with a unique ID that can be verified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spatialthoughts.com/verify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Participants must be </a:t>
            </a:r>
            <a:r>
              <a:rPr b="1" lang="en"/>
              <a:t>enrolled in a course</a:t>
            </a:r>
            <a:r>
              <a:rPr lang="en"/>
              <a:t> and complete the exercises and assignment to earn the certificate.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If you miss a class, you should submit the exercises by email for evaluation.</a:t>
            </a:r>
            <a:endParaRPr/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4000" y="1170200"/>
            <a:ext cx="4527600" cy="3201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Introduction to Agentic Coding</a:t>
            </a:r>
            <a:endParaRPr sz="3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Agents</a:t>
            </a:r>
            <a:endParaRPr/>
          </a:p>
        </p:txBody>
      </p:sp>
      <p:sp>
        <p:nvSpPr>
          <p:cNvPr id="190" name="Google Shape;190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are software systems that are able to complete tasks on behalf of the users.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Instead of user prompting the model at each step for a response, </a:t>
            </a:r>
            <a:r>
              <a:rPr lang="en"/>
              <a:t>Agents can plan, execute multi-step workflows.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core principle is the </a:t>
            </a:r>
            <a:r>
              <a:rPr b="1" lang="en"/>
              <a:t>ReAct</a:t>
            </a:r>
            <a:r>
              <a:rPr lang="en"/>
              <a:t> loop (reasoning and acting) [</a:t>
            </a:r>
            <a:r>
              <a:rPr lang="en" u="sng">
                <a:solidFill>
                  <a:schemeClr val="hlink"/>
                </a:solidFill>
                <a:hlinkClick r:id="rId3"/>
              </a:rPr>
              <a:t>reference</a:t>
            </a:r>
            <a:r>
              <a:rPr lang="en"/>
              <a:t>]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Reason → Act → Observe → Repeat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Agentic Coding</a:t>
            </a:r>
            <a:endParaRPr/>
          </a:p>
        </p:txBody>
      </p:sp>
      <p:sp>
        <p:nvSpPr>
          <p:cNvPr id="196" name="Google Shape;196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Agentic coding involves setting high-level goals than line-by-line prompts or copy/pasting code from AI Assistants.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agent plans a coding task, executes changes across multiple files, runs the code, fixes errors, checks the outputs and iterates based on results.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the code throws an error, the agent reads the output, reasons through the failure, and applies a fix on its own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paradigm shifts the </a:t>
            </a:r>
            <a:r>
              <a:rPr lang="en"/>
              <a:t>developer's</a:t>
            </a:r>
            <a:r>
              <a:rPr lang="en"/>
              <a:t> role from writing every line to reviewing, directing, and </a:t>
            </a:r>
            <a:r>
              <a:rPr lang="en"/>
              <a:t>validating</a:t>
            </a:r>
            <a:r>
              <a:rPr lang="en"/>
              <a:t> the agent's work.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Agent Harness</a:t>
            </a:r>
            <a:endParaRPr/>
          </a:p>
        </p:txBody>
      </p:sp>
      <p:sp>
        <p:nvSpPr>
          <p:cNvPr id="202" name="Google Shape;202;p2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themselves can only generate a </a:t>
            </a:r>
            <a:r>
              <a:rPr lang="en"/>
              <a:t>response</a:t>
            </a:r>
            <a:r>
              <a:rPr lang="en"/>
              <a:t> from a prompt.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</a:t>
            </a:r>
            <a:r>
              <a:rPr lang="en"/>
              <a:t>ou need a system that can use LLMs to perform agentic codings tasks. This system is the “Agent Harness”.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Harness turns LLMs into Agents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Agent = Model + Harness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Features of a Agent Harness</a:t>
            </a:r>
            <a:endParaRPr/>
          </a:p>
        </p:txBody>
      </p:sp>
      <p:sp>
        <p:nvSpPr>
          <p:cNvPr id="208" name="Google Shape;208;p2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 Access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access to tools to manage code (i.e. Git), run shell commands, call APIs etc.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Memory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context on the previous executions and user preferences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access to files, runtime environment and operating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Guardrails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Has the </a:t>
            </a:r>
            <a:r>
              <a:rPr lang="en"/>
              <a:t>ability</a:t>
            </a:r>
            <a:r>
              <a:rPr lang="en"/>
              <a:t> to manage permissions, and enforce policies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Claude Code</a:t>
            </a:r>
            <a:endParaRPr/>
          </a:p>
        </p:txBody>
      </p:sp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Claude Code is the agentic harness around Claude models by Anthropic.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of the most popular coding agent in the market.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a closed-source system that is tightly integrated with Claude models and Anthropic APIs.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Other competitors to Claude Code include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OpenAI Codex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Gemini CLI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GitHub Coilot CLI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ecosystem is more-or-less standardized on the feature set.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Cost and Model performance are the key factors in determine your choice of agent harness.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Coding Agents</a:t>
            </a:r>
            <a:endParaRPr/>
          </a:p>
        </p:txBody>
      </p:sp>
      <p:sp>
        <p:nvSpPr>
          <p:cNvPr id="220" name="Google Shape;220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Many open-source alternatives exists that provide similar functionality.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OpenCode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Pi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DeepSeek Harness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choice and flexibility are the main factors driving adoption of open-source </a:t>
            </a:r>
            <a:r>
              <a:rPr lang="en"/>
              <a:t>harnesses</a:t>
            </a:r>
            <a:r>
              <a:rPr lang="en"/>
              <a:t>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pick from a wide range of models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can use local models running on your own machine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get a lot more visibility and transparency on the execution flow.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get coding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Workshop Materials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Workshop materials are available at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100" u="sng">
                <a:solidFill>
                  <a:schemeClr val="hlink"/>
                </a:solidFill>
                <a:hlinkClick r:id="rId3"/>
              </a:rPr>
              <a:t>https://courses.spatialthoughts.com/agentic-coding-geospatial.html</a:t>
            </a:r>
            <a:endParaRPr sz="2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Markdown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</a:t>
            </a:r>
            <a:endParaRPr/>
          </a:p>
        </p:txBody>
      </p:sp>
      <p:sp>
        <p:nvSpPr>
          <p:cNvPr id="242" name="Google Shape;242;p32"/>
          <p:cNvSpPr txBox="1"/>
          <p:nvPr>
            <p:ph idx="1" type="body"/>
          </p:nvPr>
        </p:nvSpPr>
        <p:spPr>
          <a:xfrm>
            <a:off x="311700" y="1229975"/>
            <a:ext cx="43884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is a simple formatting language to create structured documents.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Plain text formatting that is easy to read and write for humans and computers.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It is a widely used standard for creating documents and websites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documents can be easily converted to other formats (PDF, Word, HTML) without worrying about styling and format-specific formatting.</a:t>
            </a:r>
            <a:endParaRPr/>
          </a:p>
        </p:txBody>
      </p:sp>
      <p:sp>
        <p:nvSpPr>
          <p:cNvPr id="243" name="Google Shape;243;p32"/>
          <p:cNvSpPr txBox="1"/>
          <p:nvPr/>
        </p:nvSpPr>
        <p:spPr>
          <a:xfrm>
            <a:off x="6005025" y="29000"/>
            <a:ext cx="1428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Markdown Text</a:t>
            </a:r>
            <a:endParaRPr sz="1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32"/>
          <p:cNvSpPr txBox="1"/>
          <p:nvPr/>
        </p:nvSpPr>
        <p:spPr>
          <a:xfrm>
            <a:off x="6005025" y="2332675"/>
            <a:ext cx="14286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Rendered HTML</a:t>
            </a:r>
            <a:endParaRPr sz="100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45" name="Google Shape;2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4511" y="2635675"/>
            <a:ext cx="2969625" cy="197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46" name="Google Shape;24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701" y="307325"/>
            <a:ext cx="3670875" cy="1818125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Flavors of Markdown</a:t>
            </a:r>
            <a:endParaRPr/>
          </a:p>
        </p:txBody>
      </p:sp>
      <p:sp>
        <p:nvSpPr>
          <p:cNvPr id="252" name="Google Shape;252;p33"/>
          <p:cNvSpPr txBox="1"/>
          <p:nvPr>
            <p:ph idx="1" type="body"/>
          </p:nvPr>
        </p:nvSpPr>
        <p:spPr>
          <a:xfrm>
            <a:off x="311700" y="1229975"/>
            <a:ext cx="7907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original Markdown specifications supports </a:t>
            </a:r>
            <a:r>
              <a:rPr lang="en" u="sng">
                <a:solidFill>
                  <a:schemeClr val="hlink"/>
                </a:solidFill>
                <a:hlinkClick r:id="rId3"/>
              </a:rPr>
              <a:t>basic syntax</a:t>
            </a:r>
            <a:r>
              <a:rPr lang="en"/>
              <a:t> - which is limiting for many applications.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is a superset of Markdown that support an </a:t>
            </a:r>
            <a:r>
              <a:rPr lang="en" u="sng">
                <a:solidFill>
                  <a:schemeClr val="hlink"/>
                </a:solidFill>
                <a:hlinkClick r:id="rId4"/>
              </a:rPr>
              <a:t>extended syntax</a:t>
            </a:r>
            <a:r>
              <a:rPr lang="en"/>
              <a:t>. 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Tables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Code Blocks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Footnotes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…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GitHub supports the GitHub-flavored Markdown syntax which supports the full extended syntax, plus some GitHub-specific additions.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Tip, Notes, Alerts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Diagrams, Mathematical expressions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Referencing GitHub issues, users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is the language of AI</a:t>
            </a:r>
            <a:endParaRPr/>
          </a:p>
        </p:txBody>
      </p:sp>
      <p:sp>
        <p:nvSpPr>
          <p:cNvPr id="258" name="Google Shape;258;p34"/>
          <p:cNvSpPr txBox="1"/>
          <p:nvPr>
            <p:ph idx="1" type="body"/>
          </p:nvPr>
        </p:nvSpPr>
        <p:spPr>
          <a:xfrm>
            <a:off x="311700" y="1229975"/>
            <a:ext cx="4369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AI systems use Markdown as a native format to structure content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Markdown is easier for LLMs to parse and makes them more effective than HTML/PDFs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Markdown in prompts helps AI recognize structure and prioritize instructions.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Headings, bullet points, tables convey useful structure information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Agentic systems like Claude Code use Markdown as the language for configuration.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9" name="Google Shape;259;p3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0250" y="1274975"/>
            <a:ext cx="3652225" cy="317237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